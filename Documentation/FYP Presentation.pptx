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49" r:id="rId2"/>
  </p:sldMasterIdLst>
  <p:notesMasterIdLst>
    <p:notesMasterId r:id="rId22"/>
  </p:notesMasterIdLst>
  <p:sldIdLst>
    <p:sldId id="257" r:id="rId3"/>
    <p:sldId id="258" r:id="rId4"/>
    <p:sldId id="259" r:id="rId5"/>
    <p:sldId id="260" r:id="rId6"/>
    <p:sldId id="261" r:id="rId7"/>
    <p:sldId id="263" r:id="rId8"/>
    <p:sldId id="273" r:id="rId9"/>
    <p:sldId id="274" r:id="rId10"/>
    <p:sldId id="264" r:id="rId11"/>
    <p:sldId id="275" r:id="rId12"/>
    <p:sldId id="265" r:id="rId13"/>
    <p:sldId id="266" r:id="rId14"/>
    <p:sldId id="276" r:id="rId15"/>
    <p:sldId id="268" r:id="rId16"/>
    <p:sldId id="277" r:id="rId17"/>
    <p:sldId id="279" r:id="rId18"/>
    <p:sldId id="280" r:id="rId19"/>
    <p:sldId id="281" r:id="rId20"/>
    <p:sldId id="272"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6308"/>
    <a:srgbClr val="0080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26" autoAdjust="0"/>
    <p:restoredTop sz="89822" autoAdjust="0"/>
  </p:normalViewPr>
  <p:slideViewPr>
    <p:cSldViewPr>
      <p:cViewPr varScale="1">
        <p:scale>
          <a:sx n="76" d="100"/>
          <a:sy n="76" d="100"/>
        </p:scale>
        <p:origin x="1675" y="5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98"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799"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EE16272-617E-4DAF-98A7-1E249FC6E62B}" type="datetimeFigureOut">
              <a:rPr lang="en-US" smtClean="0"/>
              <a:t>22-Jul-25</a:t>
            </a:fld>
            <a:endParaRPr lang="en-US"/>
          </a:p>
        </p:txBody>
      </p:sp>
      <p:sp>
        <p:nvSpPr>
          <p:cNvPr id="1048800"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801"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2"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803"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C3306E6-DC10-44A3-83DD-EDA3C03FF55B}" type="slidenum">
              <a:rPr lang="en-US" smtClean="0"/>
              <a:t>‹#›</a:t>
            </a:fld>
            <a:endParaRPr lang="en-US"/>
          </a:p>
        </p:txBody>
      </p:sp>
    </p:spTree>
    <p:extLst>
      <p:ext uri="{BB962C8B-B14F-4D97-AF65-F5344CB8AC3E}">
        <p14:creationId xmlns:p14="http://schemas.microsoft.com/office/powerpoint/2010/main" val="1076928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2" name="Slide Image Placeholder 1"/>
          <p:cNvSpPr>
            <a:spLocks noGrp="1" noRot="1" noChangeAspect="1"/>
          </p:cNvSpPr>
          <p:nvPr>
            <p:ph type="sldImg"/>
          </p:nvPr>
        </p:nvSpPr>
        <p:spPr/>
      </p:sp>
      <p:sp>
        <p:nvSpPr>
          <p:cNvPr id="1048643" name="Notes Placeholder 2"/>
          <p:cNvSpPr>
            <a:spLocks noGrp="1"/>
          </p:cNvSpPr>
          <p:nvPr>
            <p:ph type="body" idx="1"/>
          </p:nvPr>
        </p:nvSpPr>
        <p:spPr/>
        <p:txBody>
          <a:bodyPr/>
          <a:lstStyle/>
          <a:p>
            <a:endParaRPr lang="en-US" dirty="0"/>
          </a:p>
        </p:txBody>
      </p:sp>
      <p:sp>
        <p:nvSpPr>
          <p:cNvPr id="1048644" name="Slide Number Placeholder 3"/>
          <p:cNvSpPr>
            <a:spLocks noGrp="1"/>
          </p:cNvSpPr>
          <p:nvPr>
            <p:ph type="sldNum" sz="quarter" idx="5"/>
          </p:nvPr>
        </p:nvSpPr>
        <p:spPr/>
        <p:txBody>
          <a:bodyPr/>
          <a:lstStyle/>
          <a:p>
            <a:fld id="{3C3306E6-DC10-44A3-83DD-EDA3C03FF55B}" type="slidenum">
              <a:rPr lang="en-US" smtClean="0"/>
              <a:t>11</a:t>
            </a:fld>
            <a:endParaRPr lang="en-US"/>
          </a:p>
        </p:txBody>
      </p:sp>
    </p:spTree>
    <p:extLst>
      <p:ext uri="{BB962C8B-B14F-4D97-AF65-F5344CB8AC3E}">
        <p14:creationId xmlns:p14="http://schemas.microsoft.com/office/powerpoint/2010/main" val="10229823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96" name="Title 1"/>
          <p:cNvSpPr>
            <a:spLocks noGrp="1"/>
          </p:cNvSpPr>
          <p:nvPr>
            <p:ph type="title"/>
          </p:nvPr>
        </p:nvSpPr>
        <p:spPr>
          <a:xfrm>
            <a:off x="612648" y="228600"/>
            <a:ext cx="7616952" cy="990600"/>
          </a:xfrm>
        </p:spPr>
        <p:txBody>
          <a:bodyPr/>
          <a:lstStyle/>
          <a:p>
            <a:r>
              <a:rPr kumimoji="0" lang="en-US"/>
              <a:t>Click to edit Master title style</a:t>
            </a:r>
          </a:p>
        </p:txBody>
      </p:sp>
      <p:sp>
        <p:nvSpPr>
          <p:cNvPr id="1048597" name="Date Placeholder 3"/>
          <p:cNvSpPr>
            <a:spLocks noGrp="1"/>
          </p:cNvSpPr>
          <p:nvPr>
            <p:ph type="dt" sz="half" idx="10"/>
          </p:nvPr>
        </p:nvSpPr>
        <p:spPr>
          <a:xfrm>
            <a:off x="6248400" y="6400800"/>
            <a:ext cx="2514600" cy="304800"/>
          </a:xfrm>
          <a:solidFill>
            <a:srgbClr val="008000"/>
          </a:solidFill>
        </p:spPr>
        <p:txBody>
          <a:bodyPr/>
          <a:lstStyle>
            <a:lvl1pPr algn="r">
              <a:defRPr b="0">
                <a:solidFill>
                  <a:schemeClr val="bg1"/>
                </a:solidFill>
              </a:defRPr>
            </a:lvl1pPr>
          </a:lstStyle>
          <a:p>
            <a:r>
              <a:rPr lang="en-US"/>
              <a:t>CS-FYP    Hamdard University </a:t>
            </a:r>
            <a:endParaRPr lang="en-US" dirty="0"/>
          </a:p>
        </p:txBody>
      </p:sp>
      <p:sp>
        <p:nvSpPr>
          <p:cNvPr id="1048598" name="Footer Placeholder 4"/>
          <p:cNvSpPr>
            <a:spLocks noGrp="1"/>
          </p:cNvSpPr>
          <p:nvPr>
            <p:ph type="ftr" sz="quarter" idx="11"/>
          </p:nvPr>
        </p:nvSpPr>
        <p:spPr>
          <a:xfrm>
            <a:off x="609601" y="6400800"/>
            <a:ext cx="5410200" cy="288925"/>
          </a:xfrm>
          <a:solidFill>
            <a:srgbClr val="F86308"/>
          </a:solidFill>
        </p:spPr>
        <p:txBody>
          <a:bodyPr/>
          <a:lstStyle>
            <a:lvl1pPr algn="l">
              <a:defRPr b="0">
                <a:solidFill>
                  <a:schemeClr val="bg1"/>
                </a:solidFill>
              </a:defRPr>
            </a:lvl1pPr>
          </a:lstStyle>
          <a:p>
            <a:r>
              <a:rPr lang="en-US"/>
              <a:t>Project Name Here</a:t>
            </a:r>
            <a:endParaRPr lang="en-US" dirty="0"/>
          </a:p>
        </p:txBody>
      </p:sp>
      <p:sp>
        <p:nvSpPr>
          <p:cNvPr id="1048599" name="Slide Number Placeholder 5"/>
          <p:cNvSpPr>
            <a:spLocks noGrp="1"/>
          </p:cNvSpPr>
          <p:nvPr>
            <p:ph type="sldNum" sz="quarter" idx="12"/>
          </p:nvPr>
        </p:nvSpPr>
        <p:spPr>
          <a:xfrm>
            <a:off x="0" y="1279524"/>
            <a:ext cx="533400" cy="244476"/>
          </a:xfrm>
          <a:solidFill>
            <a:srgbClr val="008000"/>
          </a:solidFill>
        </p:spPr>
        <p:txBody>
          <a:bodyPr>
            <a:noAutofit/>
          </a:bodyPr>
          <a:lstStyle>
            <a:lvl1pPr>
              <a:defRPr sz="1800" b="1">
                <a:solidFill>
                  <a:srgbClr val="FFFFFF"/>
                </a:solidFill>
              </a:defRPr>
            </a:lvl1pPr>
          </a:lstStyle>
          <a:p>
            <a:fld id="{9EBC64C3-3FC7-4C40-910B-2643F037F02C}" type="slidenum">
              <a:rPr lang="en-US" smtClean="0"/>
              <a:t>‹#›</a:t>
            </a:fld>
            <a:endParaRPr lang="en-US" dirty="0"/>
          </a:p>
        </p:txBody>
      </p:sp>
      <p:sp>
        <p:nvSpPr>
          <p:cNvPr id="1048600" name="Content Placeholder 7"/>
          <p:cNvSpPr>
            <a:spLocks noGrp="1"/>
          </p:cNvSpPr>
          <p:nvPr>
            <p:ph sz="quarter" idx="1"/>
          </p:nvPr>
        </p:nvSpPr>
        <p:spPr>
          <a:xfrm>
            <a:off x="612648" y="1600200"/>
            <a:ext cx="8153400" cy="4495800"/>
          </a:xfrm>
        </p:spPr>
        <p:txBody>
          <a:bodyPr/>
          <a:lstStyle>
            <a:lvl1pPr>
              <a:buClr>
                <a:srgbClr val="008000"/>
              </a:buCl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pic>
        <p:nvPicPr>
          <p:cNvPr id="2097154" name="Picture 2"/>
          <p:cNvPicPr>
            <a:picLocks noChangeAspect="1"/>
          </p:cNvPicPr>
          <p:nvPr userDrawn="1"/>
        </p:nvPicPr>
        <p:blipFill>
          <a:blip r:embed="rId2" cstate="print"/>
          <a:stretch>
            <a:fillRect/>
          </a:stretch>
        </p:blipFill>
        <p:spPr>
          <a:xfrm>
            <a:off x="8305800" y="381000"/>
            <a:ext cx="732241" cy="638664"/>
          </a:xfrm>
          <a:prstGeom prst="rect">
            <a:avLst/>
          </a:prstGeom>
        </p:spPr>
      </p:pic>
      <p:sp>
        <p:nvSpPr>
          <p:cNvPr id="1048601" name="Rectangle 6"/>
          <p:cNvSpPr/>
          <p:nvPr userDrawn="1"/>
        </p:nvSpPr>
        <p:spPr>
          <a:xfrm>
            <a:off x="609600" y="1295400"/>
            <a:ext cx="8534400" cy="228600"/>
          </a:xfrm>
          <a:prstGeom prst="rect">
            <a:avLst/>
          </a:prstGeom>
          <a:solidFill>
            <a:srgbClr val="F86308"/>
          </a:solidFill>
          <a:ln>
            <a:solidFill>
              <a:srgbClr val="F8630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048687" name="Text Placeholder 2"/>
          <p:cNvSpPr>
            <a:spLocks noGrp="1"/>
          </p:cNvSpPr>
          <p:nvPr>
            <p:ph type="body" idx="1"/>
          </p:nvPr>
        </p:nvSpPr>
        <p:spPr>
          <a:xfrm>
            <a:off x="1752599" y="2743200"/>
            <a:ext cx="6742113" cy="1676400"/>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048688"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689" name="Rectangle 7"/>
          <p:cNvSpPr/>
          <p:nvPr/>
        </p:nvSpPr>
        <p:spPr>
          <a:xfrm>
            <a:off x="0" y="1600200"/>
            <a:ext cx="1295400" cy="990600"/>
          </a:xfrm>
          <a:prstGeom prst="rect">
            <a:avLst/>
          </a:prstGeom>
          <a:solidFill>
            <a:srgbClr val="008000"/>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690" name="Rectangle 8"/>
          <p:cNvSpPr/>
          <p:nvPr/>
        </p:nvSpPr>
        <p:spPr>
          <a:xfrm>
            <a:off x="1371600" y="1600200"/>
            <a:ext cx="7772400" cy="990600"/>
          </a:xfrm>
          <a:prstGeom prst="rect">
            <a:avLst/>
          </a:prstGeom>
          <a:solidFill>
            <a:srgbClr val="F86308"/>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691"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048692" name="Date Placeholder 11"/>
          <p:cNvSpPr>
            <a:spLocks noGrp="1"/>
          </p:cNvSpPr>
          <p:nvPr>
            <p:ph type="dt" sz="half" idx="10"/>
          </p:nvPr>
        </p:nvSpPr>
        <p:spPr>
          <a:solidFill>
            <a:srgbClr val="008000"/>
          </a:solidFill>
        </p:spPr>
        <p:txBody>
          <a:bodyPr/>
          <a:lstStyle>
            <a:lvl1pPr algn="r">
              <a:defRPr>
                <a:solidFill>
                  <a:schemeClr val="bg1"/>
                </a:solidFill>
              </a:defRPr>
            </a:lvl1pPr>
          </a:lstStyle>
          <a:p>
            <a:r>
              <a:rPr lang="en-US"/>
              <a:t>CS-FYP    Hamdard University </a:t>
            </a:r>
            <a:endParaRPr lang="en-US" dirty="0"/>
          </a:p>
        </p:txBody>
      </p:sp>
      <p:sp>
        <p:nvSpPr>
          <p:cNvPr id="104869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9EBC64C3-3FC7-4C40-910B-2643F037F02C}" type="slidenum">
              <a:rPr lang="en-US" smtClean="0"/>
              <a:t>‹#›</a:t>
            </a:fld>
            <a:endParaRPr lang="en-US" dirty="0"/>
          </a:p>
        </p:txBody>
      </p:sp>
      <p:sp>
        <p:nvSpPr>
          <p:cNvPr id="1048694" name="Footer Placeholder 13"/>
          <p:cNvSpPr>
            <a:spLocks noGrp="1"/>
          </p:cNvSpPr>
          <p:nvPr>
            <p:ph type="ftr" sz="quarter" idx="12"/>
          </p:nvPr>
        </p:nvSpPr>
        <p:spPr>
          <a:solidFill>
            <a:srgbClr val="F86308"/>
          </a:solidFill>
        </p:spPr>
        <p:txBody>
          <a:bodyPr/>
          <a:lstStyle>
            <a:lvl1pPr algn="l">
              <a:defRPr>
                <a:solidFill>
                  <a:schemeClr val="bg1"/>
                </a:solidFill>
              </a:defRPr>
            </a:lvl1pPr>
          </a:lstStyle>
          <a:p>
            <a:r>
              <a:rPr lang="en-US"/>
              <a:t>Project Name Here</a:t>
            </a:r>
            <a:endParaRPr lang="en-US" dirty="0"/>
          </a:p>
        </p:txBody>
      </p:sp>
      <p:pic>
        <p:nvPicPr>
          <p:cNvPr id="2097158" name="Picture 3"/>
          <p:cNvPicPr>
            <a:picLocks noChangeAspect="1"/>
          </p:cNvPicPr>
          <p:nvPr userDrawn="1"/>
        </p:nvPicPr>
        <p:blipFill>
          <a:blip r:embed="rId2" cstate="print"/>
          <a:stretch>
            <a:fillRect/>
          </a:stretch>
        </p:blipFill>
        <p:spPr>
          <a:xfrm>
            <a:off x="228601" y="3899346"/>
            <a:ext cx="1295400" cy="1129854"/>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10" name="Title 1"/>
          <p:cNvSpPr>
            <a:spLocks noGrp="1"/>
          </p:cNvSpPr>
          <p:nvPr>
            <p:ph type="title"/>
          </p:nvPr>
        </p:nvSpPr>
        <p:spPr/>
        <p:txBody>
          <a:bodyPr/>
          <a:lstStyle/>
          <a:p>
            <a:r>
              <a:rPr kumimoji="0" lang="en-US"/>
              <a:t>Click to edit Master title style</a:t>
            </a:r>
          </a:p>
        </p:txBody>
      </p:sp>
      <p:sp>
        <p:nvSpPr>
          <p:cNvPr id="1048711"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712"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713" name="Slide Number Placeholder 9"/>
          <p:cNvSpPr>
            <a:spLocks noGrp="1"/>
          </p:cNvSpPr>
          <p:nvPr>
            <p:ph type="sldNum" sz="quarter" idx="16"/>
          </p:nvPr>
        </p:nvSpPr>
        <p:spPr/>
        <p:txBody>
          <a:bodyPr rtlCol="0"/>
          <a:lstStyle/>
          <a:p>
            <a:fld id="{9EBC64C3-3FC7-4C40-910B-2643F037F02C}" type="slidenum">
              <a:rPr lang="en-US" smtClean="0"/>
              <a:t>‹#›</a:t>
            </a:fld>
            <a:endParaRPr lang="en-US"/>
          </a:p>
        </p:txBody>
      </p:sp>
      <p:sp>
        <p:nvSpPr>
          <p:cNvPr id="1048714" name="Footer Placeholder 13"/>
          <p:cNvSpPr txBox="1"/>
          <p:nvPr userDrawn="1"/>
        </p:nvSpPr>
        <p:spPr>
          <a:xfrm>
            <a:off x="609600" y="6400606"/>
            <a:ext cx="5421083" cy="365125"/>
          </a:xfrm>
          <a:prstGeom prst="rect">
            <a:avLst/>
          </a:prstGeom>
          <a:solidFill>
            <a:srgbClr val="F86308"/>
          </a:solidFill>
        </p:spPr>
        <p:txBody>
          <a:bodyPr vert="horz" anchor="ctr"/>
          <a:lstStyle>
            <a:defPPr>
              <a:defRPr lang="en-US"/>
            </a:defPPr>
            <a:lvl1pPr marL="0" algn="l" defTabSz="914400" rtl="0" eaLnBrk="1" latinLnBrk="0" hangingPunct="1">
              <a:defRPr kumimoji="0" sz="14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Project name here</a:t>
            </a:r>
            <a:endParaRPr lang="en-US" dirty="0"/>
          </a:p>
        </p:txBody>
      </p:sp>
      <p:sp>
        <p:nvSpPr>
          <p:cNvPr id="1048715" name="Date Placeholder 11"/>
          <p:cNvSpPr>
            <a:spLocks noGrp="1"/>
          </p:cNvSpPr>
          <p:nvPr>
            <p:ph type="dt" sz="half" idx="10"/>
          </p:nvPr>
        </p:nvSpPr>
        <p:spPr>
          <a:xfrm>
            <a:off x="6096000" y="6416675"/>
            <a:ext cx="2667000" cy="365125"/>
          </a:xfrm>
          <a:solidFill>
            <a:srgbClr val="008000"/>
          </a:solidFill>
        </p:spPr>
        <p:txBody>
          <a:bodyPr/>
          <a:lstStyle>
            <a:lvl1pPr algn="r">
              <a:defRPr>
                <a:solidFill>
                  <a:schemeClr val="bg1"/>
                </a:solidFill>
              </a:defRPr>
            </a:lvl1pPr>
          </a:lstStyle>
          <a:p>
            <a:r>
              <a:rPr lang="en-US"/>
              <a:t>CS-FYP    Hamdard University </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79" name="Title 1"/>
          <p:cNvSpPr>
            <a:spLocks noGrp="1"/>
          </p:cNvSpPr>
          <p:nvPr>
            <p:ph type="title"/>
          </p:nvPr>
        </p:nvSpPr>
        <p:spPr>
          <a:xfrm>
            <a:off x="533400" y="273050"/>
            <a:ext cx="8153400" cy="869950"/>
          </a:xfrm>
        </p:spPr>
        <p:txBody>
          <a:bodyPr anchor="ctr"/>
          <a:lstStyle/>
          <a:p>
            <a:r>
              <a:rPr kumimoji="0" lang="en-US"/>
              <a:t>Click to edit Master title style</a:t>
            </a:r>
          </a:p>
        </p:txBody>
      </p:sp>
      <p:sp>
        <p:nvSpPr>
          <p:cNvPr id="1048680"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681"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682" name="Date Placeholder 9"/>
          <p:cNvSpPr>
            <a:spLocks noGrp="1"/>
          </p:cNvSpPr>
          <p:nvPr>
            <p:ph type="dt" sz="half" idx="15"/>
          </p:nvPr>
        </p:nvSpPr>
        <p:spPr/>
        <p:txBody>
          <a:bodyPr rtlCol="0"/>
          <a:lstStyle/>
          <a:p>
            <a:r>
              <a:rPr lang="en-US"/>
              <a:t>CS-FYP    Hamdard University </a:t>
            </a:r>
          </a:p>
        </p:txBody>
      </p:sp>
      <p:sp>
        <p:nvSpPr>
          <p:cNvPr id="1048683" name="Slide Number Placeholder 11"/>
          <p:cNvSpPr>
            <a:spLocks noGrp="1"/>
          </p:cNvSpPr>
          <p:nvPr>
            <p:ph type="sldNum" sz="quarter" idx="16"/>
          </p:nvPr>
        </p:nvSpPr>
        <p:spPr/>
        <p:txBody>
          <a:bodyPr rtlCol="0"/>
          <a:lstStyle/>
          <a:p>
            <a:fld id="{9EBC64C3-3FC7-4C40-910B-2643F037F02C}" type="slidenum">
              <a:rPr lang="en-US" smtClean="0"/>
              <a:t>‹#›</a:t>
            </a:fld>
            <a:endParaRPr lang="en-US"/>
          </a:p>
        </p:txBody>
      </p:sp>
      <p:sp>
        <p:nvSpPr>
          <p:cNvPr id="1048684" name="Footer Placeholder 13"/>
          <p:cNvSpPr>
            <a:spLocks noGrp="1"/>
          </p:cNvSpPr>
          <p:nvPr>
            <p:ph type="ftr" sz="quarter" idx="17"/>
          </p:nvPr>
        </p:nvSpPr>
        <p:spPr/>
        <p:txBody>
          <a:bodyPr rtlCol="0"/>
          <a:lstStyle/>
          <a:p>
            <a:r>
              <a:rPr lang="en-US"/>
              <a:t>Project Name Here</a:t>
            </a:r>
          </a:p>
        </p:txBody>
      </p:sp>
      <p:sp>
        <p:nvSpPr>
          <p:cNvPr id="1048685"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048686"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95" name="Title 1"/>
          <p:cNvSpPr>
            <a:spLocks noGrp="1"/>
          </p:cNvSpPr>
          <p:nvPr>
            <p:ph type="title"/>
          </p:nvPr>
        </p:nvSpPr>
        <p:spPr/>
        <p:txBody>
          <a:bodyPr/>
          <a:lstStyle/>
          <a:p>
            <a:r>
              <a:rPr kumimoji="0" lang="en-US"/>
              <a:t>Click to edit Master title style</a:t>
            </a:r>
          </a:p>
        </p:txBody>
      </p:sp>
      <p:sp>
        <p:nvSpPr>
          <p:cNvPr id="1048696" name="Date Placeholder 2"/>
          <p:cNvSpPr>
            <a:spLocks noGrp="1"/>
          </p:cNvSpPr>
          <p:nvPr>
            <p:ph type="dt" sz="half" idx="10"/>
          </p:nvPr>
        </p:nvSpPr>
        <p:spPr/>
        <p:txBody>
          <a:bodyPr/>
          <a:lstStyle/>
          <a:p>
            <a:r>
              <a:rPr lang="en-US"/>
              <a:t>CS-FYP    Hamdard University </a:t>
            </a:r>
          </a:p>
        </p:txBody>
      </p:sp>
      <p:sp>
        <p:nvSpPr>
          <p:cNvPr id="1048697" name="Footer Placeholder 3"/>
          <p:cNvSpPr>
            <a:spLocks noGrp="1"/>
          </p:cNvSpPr>
          <p:nvPr>
            <p:ph type="ftr" sz="quarter" idx="11"/>
          </p:nvPr>
        </p:nvSpPr>
        <p:spPr/>
        <p:txBody>
          <a:bodyPr/>
          <a:lstStyle/>
          <a:p>
            <a:r>
              <a:rPr lang="en-US"/>
              <a:t>Project Name Here</a:t>
            </a:r>
          </a:p>
        </p:txBody>
      </p:sp>
      <p:sp>
        <p:nvSpPr>
          <p:cNvPr id="1048698" name="Slide Number Placeholder 4"/>
          <p:cNvSpPr>
            <a:spLocks noGrp="1"/>
          </p:cNvSpPr>
          <p:nvPr>
            <p:ph type="sldNum" sz="quarter" idx="12"/>
          </p:nvPr>
        </p:nvSpPr>
        <p:spPr/>
        <p:txBody>
          <a:bodyPr/>
          <a:lstStyle>
            <a:lvl1pPr>
              <a:defRPr>
                <a:solidFill>
                  <a:srgbClr val="FFFFFF"/>
                </a:solidFill>
              </a:defRPr>
            </a:lvl1pPr>
          </a:lstStyle>
          <a:p>
            <a:fld id="{9EBC64C3-3FC7-4C40-910B-2643F037F02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48584" name="Date Placeholder 1"/>
          <p:cNvSpPr>
            <a:spLocks noGrp="1"/>
          </p:cNvSpPr>
          <p:nvPr>
            <p:ph type="dt" sz="half" idx="10"/>
          </p:nvPr>
        </p:nvSpPr>
        <p:spPr/>
        <p:txBody>
          <a:bodyPr/>
          <a:lstStyle/>
          <a:p>
            <a:r>
              <a:rPr lang="en-US"/>
              <a:t>CS-FYP    Hamdard University </a:t>
            </a:r>
          </a:p>
        </p:txBody>
      </p:sp>
      <p:sp>
        <p:nvSpPr>
          <p:cNvPr id="1048585" name="Footer Placeholder 2"/>
          <p:cNvSpPr>
            <a:spLocks noGrp="1"/>
          </p:cNvSpPr>
          <p:nvPr>
            <p:ph type="ftr" sz="quarter" idx="11"/>
          </p:nvPr>
        </p:nvSpPr>
        <p:spPr/>
        <p:txBody>
          <a:bodyPr/>
          <a:lstStyle/>
          <a:p>
            <a:r>
              <a:rPr lang="en-US"/>
              <a:t>Project Name Here</a:t>
            </a:r>
          </a:p>
        </p:txBody>
      </p:sp>
      <p:sp>
        <p:nvSpPr>
          <p:cNvPr id="1048586"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9EBC64C3-3FC7-4C40-910B-2643F037F02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99"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1048700" name="Date Placeholder 4"/>
          <p:cNvSpPr>
            <a:spLocks noGrp="1"/>
          </p:cNvSpPr>
          <p:nvPr>
            <p:ph type="dt" sz="half" idx="10"/>
          </p:nvPr>
        </p:nvSpPr>
        <p:spPr/>
        <p:txBody>
          <a:bodyPr/>
          <a:lstStyle/>
          <a:p>
            <a:r>
              <a:rPr lang="en-US"/>
              <a:t>CS-FYP    Hamdard University </a:t>
            </a:r>
          </a:p>
        </p:txBody>
      </p:sp>
      <p:sp>
        <p:nvSpPr>
          <p:cNvPr id="1048701" name="Footer Placeholder 5"/>
          <p:cNvSpPr>
            <a:spLocks noGrp="1"/>
          </p:cNvSpPr>
          <p:nvPr>
            <p:ph type="ftr" sz="quarter" idx="11"/>
          </p:nvPr>
        </p:nvSpPr>
        <p:spPr/>
        <p:txBody>
          <a:bodyPr/>
          <a:lstStyle/>
          <a:p>
            <a:r>
              <a:rPr lang="en-US"/>
              <a:t>Project Name Here</a:t>
            </a:r>
          </a:p>
        </p:txBody>
      </p:sp>
      <p:sp>
        <p:nvSpPr>
          <p:cNvPr id="1048702" name="Slide Number Placeholder 6"/>
          <p:cNvSpPr>
            <a:spLocks noGrp="1"/>
          </p:cNvSpPr>
          <p:nvPr>
            <p:ph type="sldNum" sz="quarter" idx="12"/>
          </p:nvPr>
        </p:nvSpPr>
        <p:spPr/>
        <p:txBody>
          <a:bodyPr/>
          <a:lstStyle>
            <a:lvl1pPr>
              <a:defRPr>
                <a:solidFill>
                  <a:srgbClr val="FFFFFF"/>
                </a:solidFill>
              </a:defRPr>
            </a:lvl1pPr>
          </a:lstStyle>
          <a:p>
            <a:fld id="{9EBC64C3-3FC7-4C40-910B-2643F037F02C}" type="slidenum">
              <a:rPr lang="en-US" smtClean="0"/>
              <a:t>‹#›</a:t>
            </a:fld>
            <a:endParaRPr lang="en-US"/>
          </a:p>
        </p:txBody>
      </p:sp>
      <p:sp>
        <p:nvSpPr>
          <p:cNvPr id="104870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1048704"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104872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1048725"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726"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727"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728"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048729"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730" name="Date Placeholder 11"/>
          <p:cNvSpPr>
            <a:spLocks noGrp="1"/>
          </p:cNvSpPr>
          <p:nvPr>
            <p:ph type="dt" sz="half" idx="10"/>
          </p:nvPr>
        </p:nvSpPr>
        <p:spPr>
          <a:xfrm>
            <a:off x="6248400" y="6248400"/>
            <a:ext cx="2667000" cy="365125"/>
          </a:xfrm>
        </p:spPr>
        <p:txBody>
          <a:bodyPr rtlCol="0"/>
          <a:lstStyle/>
          <a:p>
            <a:r>
              <a:rPr lang="en-US"/>
              <a:t>CS-FYP    Hamdard University </a:t>
            </a:r>
          </a:p>
        </p:txBody>
      </p:sp>
      <p:sp>
        <p:nvSpPr>
          <p:cNvPr id="1048731" name="Slide Number Placeholder 12"/>
          <p:cNvSpPr>
            <a:spLocks noGrp="1"/>
          </p:cNvSpPr>
          <p:nvPr>
            <p:ph type="sldNum" sz="quarter" idx="11"/>
          </p:nvPr>
        </p:nvSpPr>
        <p:spPr>
          <a:xfrm>
            <a:off x="0" y="4667249"/>
            <a:ext cx="1447800" cy="663578"/>
          </a:xfrm>
        </p:spPr>
        <p:txBody>
          <a:bodyPr rtlCol="0"/>
          <a:lstStyle>
            <a:lvl1pPr>
              <a:defRPr sz="2800"/>
            </a:lvl1pPr>
          </a:lstStyle>
          <a:p>
            <a:fld id="{9EBC64C3-3FC7-4C40-910B-2643F037F02C}" type="slidenum">
              <a:rPr lang="en-US" smtClean="0"/>
              <a:t>‹#›</a:t>
            </a:fld>
            <a:endParaRPr lang="en-US"/>
          </a:p>
        </p:txBody>
      </p:sp>
      <p:sp>
        <p:nvSpPr>
          <p:cNvPr id="1048732" name="Footer Placeholder 13"/>
          <p:cNvSpPr>
            <a:spLocks noGrp="1"/>
          </p:cNvSpPr>
          <p:nvPr>
            <p:ph type="ftr" sz="quarter" idx="12"/>
          </p:nvPr>
        </p:nvSpPr>
        <p:spPr>
          <a:xfrm>
            <a:off x="1600200" y="6248206"/>
            <a:ext cx="4572000" cy="365125"/>
          </a:xfrm>
        </p:spPr>
        <p:txBody>
          <a:bodyPr rtlCol="0"/>
          <a:lstStyle/>
          <a:p>
            <a:r>
              <a:rPr lang="en-US"/>
              <a:t>Project Name Here</a:t>
            </a:r>
          </a:p>
        </p:txBody>
      </p:sp>
      <p:sp>
        <p:nvSpPr>
          <p:cNvPr id="104873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05" name="Title 1"/>
          <p:cNvSpPr>
            <a:spLocks noGrp="1"/>
          </p:cNvSpPr>
          <p:nvPr>
            <p:ph type="title"/>
          </p:nvPr>
        </p:nvSpPr>
        <p:spPr/>
        <p:txBody>
          <a:bodyPr/>
          <a:lstStyle/>
          <a:p>
            <a:r>
              <a:rPr kumimoji="0" lang="en-US"/>
              <a:t>Click to edit Master title style</a:t>
            </a:r>
          </a:p>
        </p:txBody>
      </p:sp>
      <p:sp>
        <p:nvSpPr>
          <p:cNvPr id="1048706"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707" name="Date Placeholder 3"/>
          <p:cNvSpPr>
            <a:spLocks noGrp="1"/>
          </p:cNvSpPr>
          <p:nvPr>
            <p:ph type="dt" sz="half" idx="10"/>
          </p:nvPr>
        </p:nvSpPr>
        <p:spPr/>
        <p:txBody>
          <a:bodyPr/>
          <a:lstStyle/>
          <a:p>
            <a:r>
              <a:rPr lang="en-US"/>
              <a:t>CS-FYP    Hamdard University </a:t>
            </a:r>
          </a:p>
        </p:txBody>
      </p:sp>
      <p:sp>
        <p:nvSpPr>
          <p:cNvPr id="1048708" name="Footer Placeholder 4"/>
          <p:cNvSpPr>
            <a:spLocks noGrp="1"/>
          </p:cNvSpPr>
          <p:nvPr>
            <p:ph type="ftr" sz="quarter" idx="11"/>
          </p:nvPr>
        </p:nvSpPr>
        <p:spPr/>
        <p:txBody>
          <a:bodyPr/>
          <a:lstStyle/>
          <a:p>
            <a:r>
              <a:rPr lang="en-US"/>
              <a:t>Project Name Here</a:t>
            </a:r>
          </a:p>
        </p:txBody>
      </p:sp>
      <p:sp>
        <p:nvSpPr>
          <p:cNvPr id="1048709" name="Slide Number Placeholder 5"/>
          <p:cNvSpPr>
            <a:spLocks noGrp="1"/>
          </p:cNvSpPr>
          <p:nvPr>
            <p:ph type="sldNum" sz="quarter" idx="12"/>
          </p:nvPr>
        </p:nvSpPr>
        <p:spPr/>
        <p:txBody>
          <a:bodyPr/>
          <a:lstStyle/>
          <a:p>
            <a:fld id="{9EBC64C3-3FC7-4C40-910B-2643F037F02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1048716"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1048717"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718" name="Date Placeholder 3"/>
          <p:cNvSpPr>
            <a:spLocks noGrp="1"/>
          </p:cNvSpPr>
          <p:nvPr>
            <p:ph type="dt" sz="half" idx="10"/>
          </p:nvPr>
        </p:nvSpPr>
        <p:spPr>
          <a:xfrm>
            <a:off x="6553200" y="6248402"/>
            <a:ext cx="2209800" cy="365125"/>
          </a:xfrm>
        </p:spPr>
        <p:txBody>
          <a:bodyPr/>
          <a:lstStyle/>
          <a:p>
            <a:r>
              <a:rPr lang="en-US"/>
              <a:t>CS-FYP    Hamdard University </a:t>
            </a:r>
          </a:p>
        </p:txBody>
      </p:sp>
      <p:sp>
        <p:nvSpPr>
          <p:cNvPr id="1048719" name="Footer Placeholder 4"/>
          <p:cNvSpPr>
            <a:spLocks noGrp="1"/>
          </p:cNvSpPr>
          <p:nvPr>
            <p:ph type="ftr" sz="quarter" idx="11"/>
          </p:nvPr>
        </p:nvSpPr>
        <p:spPr>
          <a:xfrm>
            <a:off x="457201" y="6248207"/>
            <a:ext cx="5573483" cy="365125"/>
          </a:xfrm>
        </p:spPr>
        <p:txBody>
          <a:bodyPr/>
          <a:lstStyle/>
          <a:p>
            <a:r>
              <a:rPr lang="en-US"/>
              <a:t>Project Name Here</a:t>
            </a:r>
          </a:p>
        </p:txBody>
      </p:sp>
      <p:sp>
        <p:nvSpPr>
          <p:cNvPr id="1048720"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048721"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048722"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048723" name="Slide Number Placeholder 5"/>
          <p:cNvSpPr>
            <a:spLocks noGrp="1"/>
          </p:cNvSpPr>
          <p:nvPr>
            <p:ph type="sldNum" sz="quarter" idx="12"/>
          </p:nvPr>
        </p:nvSpPr>
        <p:spPr>
          <a:xfrm rot="5400000">
            <a:off x="5989638" y="144462"/>
            <a:ext cx="533400" cy="244476"/>
          </a:xfrm>
        </p:spPr>
        <p:txBody>
          <a:bodyPr/>
          <a:lstStyle/>
          <a:p>
            <a:fld id="{9EBC64C3-3FC7-4C40-910B-2643F037F02C}"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766"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767"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48768" name="Date Placeholder 3"/>
          <p:cNvSpPr>
            <a:spLocks noGrp="1"/>
          </p:cNvSpPr>
          <p:nvPr>
            <p:ph type="dt" sz="half" idx="10"/>
          </p:nvPr>
        </p:nvSpPr>
        <p:spPr/>
        <p:txBody>
          <a:bodyPr/>
          <a:lstStyle/>
          <a:p>
            <a:fld id="{036888AC-FB0C-48C5-9546-BFA209E1C0B0}" type="datetimeFigureOut">
              <a:rPr lang="en-US" smtClean="0"/>
              <a:t>22-Jul-25</a:t>
            </a:fld>
            <a:endParaRPr lang="en-US"/>
          </a:p>
        </p:txBody>
      </p:sp>
      <p:sp>
        <p:nvSpPr>
          <p:cNvPr id="1048769" name="Footer Placeholder 4"/>
          <p:cNvSpPr>
            <a:spLocks noGrp="1"/>
          </p:cNvSpPr>
          <p:nvPr>
            <p:ph type="ftr" sz="quarter" idx="11"/>
          </p:nvPr>
        </p:nvSpPr>
        <p:spPr/>
        <p:txBody>
          <a:bodyPr/>
          <a:lstStyle/>
          <a:p>
            <a:endParaRPr lang="en-US"/>
          </a:p>
        </p:txBody>
      </p:sp>
      <p:sp>
        <p:nvSpPr>
          <p:cNvPr id="1048770" name="Slide Number Placeholder 5"/>
          <p:cNvSpPr>
            <a:spLocks noGrp="1"/>
          </p:cNvSpPr>
          <p:nvPr>
            <p:ph type="sldNum" sz="quarter" idx="12"/>
          </p:nvPr>
        </p:nvSpPr>
        <p:spPr/>
        <p:txBody>
          <a:bodyPr/>
          <a:lstStyle/>
          <a:p>
            <a:fld id="{3DED491B-7DAF-4731-BA96-CAE54A69398C}"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60" name="Title 1"/>
          <p:cNvSpPr>
            <a:spLocks noGrp="1"/>
          </p:cNvSpPr>
          <p:nvPr>
            <p:ph type="title" hasCustomPrompt="1"/>
          </p:nvPr>
        </p:nvSpPr>
        <p:spPr>
          <a:xfrm>
            <a:off x="533400" y="304800"/>
            <a:ext cx="8122664" cy="914400"/>
          </a:xfrm>
          <a:ln>
            <a:solidFill>
              <a:srgbClr val="008000"/>
            </a:solidFill>
          </a:ln>
        </p:spPr>
        <p:txBody>
          <a:bodyPr/>
          <a:lstStyle>
            <a:lvl1pPr algn="l"/>
          </a:lstStyle>
          <a:p>
            <a:r>
              <a:rPr lang="en-US" dirty="0"/>
              <a:t> Click to edit Master title style</a:t>
            </a:r>
          </a:p>
        </p:txBody>
      </p:sp>
      <p:sp>
        <p:nvSpPr>
          <p:cNvPr id="1048761" name="Content Placeholder 2"/>
          <p:cNvSpPr>
            <a:spLocks noGrp="1"/>
          </p:cNvSpPr>
          <p:nvPr>
            <p:ph idx="1"/>
          </p:nvPr>
        </p:nvSpPr>
        <p:spPr>
          <a:xfrm>
            <a:off x="457200" y="1722437"/>
            <a:ext cx="8229600" cy="4525963"/>
          </a:xfrm>
        </p:spPr>
        <p:txBody>
          <a:bodyPr/>
          <a:lstStyle>
            <a:lvl1pPr marL="342900" indent="-342900">
              <a:buClr>
                <a:srgbClr val="008000"/>
              </a:buClr>
              <a:buSzPct val="70000"/>
              <a:buFont typeface="Wingdings" pitchFamily="2" charset="2"/>
              <a:buChar char="q"/>
            </a:lvl1pPr>
            <a:lvl2pPr marL="742950" indent="-285750">
              <a:buClr>
                <a:srgbClr val="008000"/>
              </a:buClr>
              <a:buSzPct val="70000"/>
              <a:buFont typeface="Wingdings" pitchFamily="2" charset="2"/>
              <a:buChar char="§"/>
            </a:lvl2pPr>
            <a:lvl3pPr marL="1143000" indent="-228600">
              <a:buClr>
                <a:srgbClr val="008000"/>
              </a:buClr>
              <a:buSzPct val="70000"/>
              <a:buFont typeface="Courier New" pitchFamily="49" charset="0"/>
              <a:buChar char="o"/>
            </a:lvl3pPr>
            <a:lvl4pPr marL="1600200" indent="-228600">
              <a:buClr>
                <a:srgbClr val="008000"/>
              </a:buClr>
              <a:buSzPct val="70000"/>
              <a:buFont typeface="Wingdings" pitchFamily="2" charset="2"/>
              <a:buChar char="q"/>
            </a:lvl4pPr>
            <a:lvl5pPr marL="2057400" indent="-228600">
              <a:buClr>
                <a:srgbClr val="008000"/>
              </a:buClr>
              <a:buSzPct val="70000"/>
              <a:buFont typeface="Wingdings" pitchFamily="2" charset="2"/>
              <a:buChar char="q"/>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762" name="Rectangle 6"/>
          <p:cNvSpPr/>
          <p:nvPr userDrawn="1"/>
        </p:nvSpPr>
        <p:spPr>
          <a:xfrm>
            <a:off x="533400" y="1371600"/>
            <a:ext cx="8122664" cy="228600"/>
          </a:xfrm>
          <a:prstGeom prst="rect">
            <a:avLst/>
          </a:prstGeom>
          <a:solidFill>
            <a:srgbClr val="F86308"/>
          </a:solidFill>
          <a:ln>
            <a:solidFill>
              <a:srgbClr val="F8630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763" name="Slide Number Placeholder 5"/>
          <p:cNvSpPr txBox="1"/>
          <p:nvPr userDrawn="1"/>
        </p:nvSpPr>
        <p:spPr>
          <a:xfrm>
            <a:off x="0" y="1355724"/>
            <a:ext cx="533400" cy="244476"/>
          </a:xfrm>
          <a:prstGeom prst="rect">
            <a:avLst/>
          </a:prstGeom>
          <a:solidFill>
            <a:srgbClr val="008000"/>
          </a:solidFill>
        </p:spPr>
        <p:txBody>
          <a:bodyPr vert="horz" lIns="91440" tIns="45720" rIns="91440" bIns="45720" rtlCol="0" anchor="ctr">
            <a:noAutofit/>
          </a:bodyPr>
          <a:lstStyle>
            <a:defPPr>
              <a:defRPr lang="en-US"/>
            </a:defPPr>
            <a:lvl1pPr marL="0" algn="r" defTabSz="914400" rtl="0" eaLnBrk="1" latinLnBrk="0" hangingPunct="1">
              <a:defRPr sz="18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EBC64C3-3FC7-4C40-910B-2643F037F02C}" type="slidenum">
              <a:rPr lang="en-US" smtClean="0"/>
              <a:t>‹#›</a:t>
            </a:fld>
            <a:endParaRPr lang="en-US" dirty="0"/>
          </a:p>
        </p:txBody>
      </p:sp>
      <p:sp>
        <p:nvSpPr>
          <p:cNvPr id="1048764" name="Date Placeholder 3"/>
          <p:cNvSpPr>
            <a:spLocks noGrp="1"/>
          </p:cNvSpPr>
          <p:nvPr>
            <p:ph type="dt" sz="half" idx="10"/>
          </p:nvPr>
        </p:nvSpPr>
        <p:spPr>
          <a:xfrm>
            <a:off x="6400800" y="6477000"/>
            <a:ext cx="2362200" cy="228600"/>
          </a:xfrm>
          <a:solidFill>
            <a:srgbClr val="008000"/>
          </a:solidFill>
        </p:spPr>
        <p:txBody>
          <a:bodyPr/>
          <a:lstStyle>
            <a:lvl1pPr algn="r">
              <a:defRPr b="0">
                <a:solidFill>
                  <a:schemeClr val="bg1"/>
                </a:solidFill>
              </a:defRPr>
            </a:lvl1pPr>
          </a:lstStyle>
          <a:p>
            <a:r>
              <a:rPr lang="en-US"/>
              <a:t>CS-FYP    Hamdard University </a:t>
            </a:r>
            <a:endParaRPr lang="en-US" dirty="0"/>
          </a:p>
        </p:txBody>
      </p:sp>
      <p:sp>
        <p:nvSpPr>
          <p:cNvPr id="1048765" name="Footer Placeholder 4"/>
          <p:cNvSpPr>
            <a:spLocks noGrp="1"/>
          </p:cNvSpPr>
          <p:nvPr>
            <p:ph type="ftr" sz="quarter" idx="11"/>
          </p:nvPr>
        </p:nvSpPr>
        <p:spPr>
          <a:xfrm>
            <a:off x="914400" y="6477000"/>
            <a:ext cx="5334000" cy="228600"/>
          </a:xfrm>
          <a:solidFill>
            <a:srgbClr val="F86308"/>
          </a:solidFill>
        </p:spPr>
        <p:txBody>
          <a:bodyPr/>
          <a:lstStyle>
            <a:lvl1pPr algn="l">
              <a:defRPr b="0">
                <a:solidFill>
                  <a:schemeClr val="bg1"/>
                </a:solidFill>
              </a:defRPr>
            </a:lvl1pPr>
          </a:lstStyle>
          <a:p>
            <a:r>
              <a:rPr lang="en-US"/>
              <a:t>Project Name Here</a:t>
            </a:r>
            <a:endParaRPr lang="en-US" dirty="0"/>
          </a:p>
        </p:txBody>
      </p:sp>
      <p:pic>
        <p:nvPicPr>
          <p:cNvPr id="2097159" name="Picture 10"/>
          <p:cNvPicPr>
            <a:picLocks noChangeAspect="1"/>
          </p:cNvPicPr>
          <p:nvPr userDrawn="1"/>
        </p:nvPicPr>
        <p:blipFill>
          <a:blip r:embed="rId2" cstate="print"/>
          <a:stretch>
            <a:fillRect/>
          </a:stretch>
        </p:blipFill>
        <p:spPr>
          <a:xfrm>
            <a:off x="76200" y="6248400"/>
            <a:ext cx="611554" cy="5334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81"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782"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3" name="Date Placeholder 3"/>
          <p:cNvSpPr>
            <a:spLocks noGrp="1"/>
          </p:cNvSpPr>
          <p:nvPr>
            <p:ph type="dt" sz="half" idx="10"/>
          </p:nvPr>
        </p:nvSpPr>
        <p:spPr/>
        <p:txBody>
          <a:bodyPr/>
          <a:lstStyle/>
          <a:p>
            <a:fld id="{036888AC-FB0C-48C5-9546-BFA209E1C0B0}" type="datetimeFigureOut">
              <a:rPr lang="en-US" smtClean="0"/>
              <a:t>22-Jul-25</a:t>
            </a:fld>
            <a:endParaRPr lang="en-US"/>
          </a:p>
        </p:txBody>
      </p:sp>
      <p:sp>
        <p:nvSpPr>
          <p:cNvPr id="1048784" name="Footer Placeholder 4"/>
          <p:cNvSpPr>
            <a:spLocks noGrp="1"/>
          </p:cNvSpPr>
          <p:nvPr>
            <p:ph type="ftr" sz="quarter" idx="11"/>
          </p:nvPr>
        </p:nvSpPr>
        <p:spPr/>
        <p:txBody>
          <a:bodyPr/>
          <a:lstStyle/>
          <a:p>
            <a:endParaRPr lang="en-US"/>
          </a:p>
        </p:txBody>
      </p:sp>
      <p:sp>
        <p:nvSpPr>
          <p:cNvPr id="1048785" name="Slide Number Placeholder 5"/>
          <p:cNvSpPr>
            <a:spLocks noGrp="1"/>
          </p:cNvSpPr>
          <p:nvPr>
            <p:ph type="sldNum" sz="quarter" idx="12"/>
          </p:nvPr>
        </p:nvSpPr>
        <p:spPr/>
        <p:txBody>
          <a:bodyPr/>
          <a:lstStyle/>
          <a:p>
            <a:fld id="{3DED491B-7DAF-4731-BA96-CAE54A69398C}"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92" name="Title 1"/>
          <p:cNvSpPr>
            <a:spLocks noGrp="1"/>
          </p:cNvSpPr>
          <p:nvPr>
            <p:ph type="title"/>
          </p:nvPr>
        </p:nvSpPr>
        <p:spPr/>
        <p:txBody>
          <a:bodyPr/>
          <a:lstStyle/>
          <a:p>
            <a:r>
              <a:rPr lang="en-US"/>
              <a:t>Click to edit Master title style</a:t>
            </a:r>
          </a:p>
        </p:txBody>
      </p:sp>
      <p:sp>
        <p:nvSpPr>
          <p:cNvPr id="104879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Date Placeholder 4"/>
          <p:cNvSpPr>
            <a:spLocks noGrp="1"/>
          </p:cNvSpPr>
          <p:nvPr>
            <p:ph type="dt" sz="half" idx="10"/>
          </p:nvPr>
        </p:nvSpPr>
        <p:spPr/>
        <p:txBody>
          <a:bodyPr/>
          <a:lstStyle/>
          <a:p>
            <a:fld id="{036888AC-FB0C-48C5-9546-BFA209E1C0B0}" type="datetimeFigureOut">
              <a:rPr lang="en-US" smtClean="0"/>
              <a:t>22-Jul-25</a:t>
            </a:fld>
            <a:endParaRPr lang="en-US"/>
          </a:p>
        </p:txBody>
      </p:sp>
      <p:sp>
        <p:nvSpPr>
          <p:cNvPr id="1048796" name="Footer Placeholder 5"/>
          <p:cNvSpPr>
            <a:spLocks noGrp="1"/>
          </p:cNvSpPr>
          <p:nvPr>
            <p:ph type="ftr" sz="quarter" idx="11"/>
          </p:nvPr>
        </p:nvSpPr>
        <p:spPr/>
        <p:txBody>
          <a:bodyPr/>
          <a:lstStyle/>
          <a:p>
            <a:endParaRPr lang="en-US"/>
          </a:p>
        </p:txBody>
      </p:sp>
      <p:sp>
        <p:nvSpPr>
          <p:cNvPr id="1048797" name="Slide Number Placeholder 6"/>
          <p:cNvSpPr>
            <a:spLocks noGrp="1"/>
          </p:cNvSpPr>
          <p:nvPr>
            <p:ph type="sldNum" sz="quarter" idx="12"/>
          </p:nvPr>
        </p:nvSpPr>
        <p:spPr/>
        <p:txBody>
          <a:bodyPr/>
          <a:lstStyle/>
          <a:p>
            <a:fld id="{3DED491B-7DAF-4731-BA96-CAE54A69398C}"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39" name="Title 1"/>
          <p:cNvSpPr>
            <a:spLocks noGrp="1"/>
          </p:cNvSpPr>
          <p:nvPr>
            <p:ph type="title"/>
          </p:nvPr>
        </p:nvSpPr>
        <p:spPr/>
        <p:txBody>
          <a:bodyPr/>
          <a:lstStyle/>
          <a:p>
            <a:r>
              <a:rPr lang="en-US"/>
              <a:t>Click to edit Master title style</a:t>
            </a:r>
          </a:p>
        </p:txBody>
      </p:sp>
      <p:sp>
        <p:nvSpPr>
          <p:cNvPr id="1048740"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41"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43"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4" name="Date Placeholder 6"/>
          <p:cNvSpPr>
            <a:spLocks noGrp="1"/>
          </p:cNvSpPr>
          <p:nvPr>
            <p:ph type="dt" sz="half" idx="10"/>
          </p:nvPr>
        </p:nvSpPr>
        <p:spPr/>
        <p:txBody>
          <a:bodyPr/>
          <a:lstStyle/>
          <a:p>
            <a:fld id="{036888AC-FB0C-48C5-9546-BFA209E1C0B0}" type="datetimeFigureOut">
              <a:rPr lang="en-US" smtClean="0"/>
              <a:t>22-Jul-25</a:t>
            </a:fld>
            <a:endParaRPr lang="en-US"/>
          </a:p>
        </p:txBody>
      </p:sp>
      <p:sp>
        <p:nvSpPr>
          <p:cNvPr id="1048745" name="Footer Placeholder 7"/>
          <p:cNvSpPr>
            <a:spLocks noGrp="1"/>
          </p:cNvSpPr>
          <p:nvPr>
            <p:ph type="ftr" sz="quarter" idx="11"/>
          </p:nvPr>
        </p:nvSpPr>
        <p:spPr/>
        <p:txBody>
          <a:bodyPr/>
          <a:lstStyle/>
          <a:p>
            <a:endParaRPr lang="en-US"/>
          </a:p>
        </p:txBody>
      </p:sp>
      <p:sp>
        <p:nvSpPr>
          <p:cNvPr id="1048746" name="Slide Number Placeholder 8"/>
          <p:cNvSpPr>
            <a:spLocks noGrp="1"/>
          </p:cNvSpPr>
          <p:nvPr>
            <p:ph type="sldNum" sz="quarter" idx="12"/>
          </p:nvPr>
        </p:nvSpPr>
        <p:spPr/>
        <p:txBody>
          <a:bodyPr/>
          <a:lstStyle/>
          <a:p>
            <a:fld id="{3DED491B-7DAF-4731-BA96-CAE54A69398C}"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56" name="Title 1"/>
          <p:cNvSpPr>
            <a:spLocks noGrp="1"/>
          </p:cNvSpPr>
          <p:nvPr>
            <p:ph type="title"/>
          </p:nvPr>
        </p:nvSpPr>
        <p:spPr/>
        <p:txBody>
          <a:bodyPr/>
          <a:lstStyle/>
          <a:p>
            <a:r>
              <a:rPr lang="en-US"/>
              <a:t>Click to edit Master title style</a:t>
            </a:r>
          </a:p>
        </p:txBody>
      </p:sp>
      <p:sp>
        <p:nvSpPr>
          <p:cNvPr id="1048757" name="Date Placeholder 2"/>
          <p:cNvSpPr>
            <a:spLocks noGrp="1"/>
          </p:cNvSpPr>
          <p:nvPr>
            <p:ph type="dt" sz="half" idx="10"/>
          </p:nvPr>
        </p:nvSpPr>
        <p:spPr/>
        <p:txBody>
          <a:bodyPr/>
          <a:lstStyle/>
          <a:p>
            <a:fld id="{036888AC-FB0C-48C5-9546-BFA209E1C0B0}" type="datetimeFigureOut">
              <a:rPr lang="en-US" smtClean="0"/>
              <a:t>22-Jul-25</a:t>
            </a:fld>
            <a:endParaRPr lang="en-US"/>
          </a:p>
        </p:txBody>
      </p:sp>
      <p:sp>
        <p:nvSpPr>
          <p:cNvPr id="1048758" name="Footer Placeholder 3"/>
          <p:cNvSpPr>
            <a:spLocks noGrp="1"/>
          </p:cNvSpPr>
          <p:nvPr>
            <p:ph type="ftr" sz="quarter" idx="11"/>
          </p:nvPr>
        </p:nvSpPr>
        <p:spPr/>
        <p:txBody>
          <a:bodyPr/>
          <a:lstStyle/>
          <a:p>
            <a:endParaRPr lang="en-US"/>
          </a:p>
        </p:txBody>
      </p:sp>
      <p:sp>
        <p:nvSpPr>
          <p:cNvPr id="1048759" name="Slide Number Placeholder 4"/>
          <p:cNvSpPr>
            <a:spLocks noGrp="1"/>
          </p:cNvSpPr>
          <p:nvPr>
            <p:ph type="sldNum" sz="quarter" idx="12"/>
          </p:nvPr>
        </p:nvSpPr>
        <p:spPr/>
        <p:txBody>
          <a:bodyPr/>
          <a:lstStyle/>
          <a:p>
            <a:fld id="{3DED491B-7DAF-4731-BA96-CAE54A69398C}"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53" name="Date Placeholder 1"/>
          <p:cNvSpPr>
            <a:spLocks noGrp="1"/>
          </p:cNvSpPr>
          <p:nvPr>
            <p:ph type="dt" sz="half" idx="10"/>
          </p:nvPr>
        </p:nvSpPr>
        <p:spPr/>
        <p:txBody>
          <a:bodyPr/>
          <a:lstStyle/>
          <a:p>
            <a:fld id="{036888AC-FB0C-48C5-9546-BFA209E1C0B0}" type="datetimeFigureOut">
              <a:rPr lang="en-US" smtClean="0"/>
              <a:t>22-Jul-25</a:t>
            </a:fld>
            <a:endParaRPr lang="en-US"/>
          </a:p>
        </p:txBody>
      </p:sp>
      <p:sp>
        <p:nvSpPr>
          <p:cNvPr id="1048754" name="Footer Placeholder 2"/>
          <p:cNvSpPr>
            <a:spLocks noGrp="1"/>
          </p:cNvSpPr>
          <p:nvPr>
            <p:ph type="ftr" sz="quarter" idx="11"/>
          </p:nvPr>
        </p:nvSpPr>
        <p:spPr/>
        <p:txBody>
          <a:bodyPr/>
          <a:lstStyle/>
          <a:p>
            <a:endParaRPr lang="en-US"/>
          </a:p>
        </p:txBody>
      </p:sp>
      <p:sp>
        <p:nvSpPr>
          <p:cNvPr id="1048755" name="Slide Number Placeholder 3"/>
          <p:cNvSpPr>
            <a:spLocks noGrp="1"/>
          </p:cNvSpPr>
          <p:nvPr>
            <p:ph type="sldNum" sz="quarter" idx="12"/>
          </p:nvPr>
        </p:nvSpPr>
        <p:spPr/>
        <p:txBody>
          <a:bodyPr/>
          <a:lstStyle/>
          <a:p>
            <a:fld id="{3DED491B-7DAF-4731-BA96-CAE54A69398C}"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86"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787"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88"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89" name="Date Placeholder 4"/>
          <p:cNvSpPr>
            <a:spLocks noGrp="1"/>
          </p:cNvSpPr>
          <p:nvPr>
            <p:ph type="dt" sz="half" idx="10"/>
          </p:nvPr>
        </p:nvSpPr>
        <p:spPr/>
        <p:txBody>
          <a:bodyPr/>
          <a:lstStyle/>
          <a:p>
            <a:fld id="{036888AC-FB0C-48C5-9546-BFA209E1C0B0}" type="datetimeFigureOut">
              <a:rPr lang="en-US" smtClean="0"/>
              <a:t>22-Jul-25</a:t>
            </a:fld>
            <a:endParaRPr lang="en-US"/>
          </a:p>
        </p:txBody>
      </p:sp>
      <p:sp>
        <p:nvSpPr>
          <p:cNvPr id="1048790" name="Footer Placeholder 5"/>
          <p:cNvSpPr>
            <a:spLocks noGrp="1"/>
          </p:cNvSpPr>
          <p:nvPr>
            <p:ph type="ftr" sz="quarter" idx="11"/>
          </p:nvPr>
        </p:nvSpPr>
        <p:spPr/>
        <p:txBody>
          <a:bodyPr/>
          <a:lstStyle/>
          <a:p>
            <a:endParaRPr lang="en-US"/>
          </a:p>
        </p:txBody>
      </p:sp>
      <p:sp>
        <p:nvSpPr>
          <p:cNvPr id="1048791" name="Slide Number Placeholder 6"/>
          <p:cNvSpPr>
            <a:spLocks noGrp="1"/>
          </p:cNvSpPr>
          <p:nvPr>
            <p:ph type="sldNum" sz="quarter" idx="12"/>
          </p:nvPr>
        </p:nvSpPr>
        <p:spPr/>
        <p:txBody>
          <a:bodyPr/>
          <a:lstStyle/>
          <a:p>
            <a:fld id="{3DED491B-7DAF-4731-BA96-CAE54A69398C}"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47"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748"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49"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50" name="Date Placeholder 4"/>
          <p:cNvSpPr>
            <a:spLocks noGrp="1"/>
          </p:cNvSpPr>
          <p:nvPr>
            <p:ph type="dt" sz="half" idx="10"/>
          </p:nvPr>
        </p:nvSpPr>
        <p:spPr/>
        <p:txBody>
          <a:bodyPr/>
          <a:lstStyle/>
          <a:p>
            <a:fld id="{036888AC-FB0C-48C5-9546-BFA209E1C0B0}" type="datetimeFigureOut">
              <a:rPr lang="en-US" smtClean="0"/>
              <a:t>22-Jul-25</a:t>
            </a:fld>
            <a:endParaRPr lang="en-US"/>
          </a:p>
        </p:txBody>
      </p:sp>
      <p:sp>
        <p:nvSpPr>
          <p:cNvPr id="1048751" name="Footer Placeholder 5"/>
          <p:cNvSpPr>
            <a:spLocks noGrp="1"/>
          </p:cNvSpPr>
          <p:nvPr>
            <p:ph type="ftr" sz="quarter" idx="11"/>
          </p:nvPr>
        </p:nvSpPr>
        <p:spPr/>
        <p:txBody>
          <a:bodyPr/>
          <a:lstStyle/>
          <a:p>
            <a:endParaRPr lang="en-US"/>
          </a:p>
        </p:txBody>
      </p:sp>
      <p:sp>
        <p:nvSpPr>
          <p:cNvPr id="1048752" name="Slide Number Placeholder 6"/>
          <p:cNvSpPr>
            <a:spLocks noGrp="1"/>
          </p:cNvSpPr>
          <p:nvPr>
            <p:ph type="sldNum" sz="quarter" idx="12"/>
          </p:nvPr>
        </p:nvSpPr>
        <p:spPr/>
        <p:txBody>
          <a:bodyPr/>
          <a:lstStyle/>
          <a:p>
            <a:fld id="{3DED491B-7DAF-4731-BA96-CAE54A69398C}"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76" name="Title 1"/>
          <p:cNvSpPr>
            <a:spLocks noGrp="1"/>
          </p:cNvSpPr>
          <p:nvPr>
            <p:ph type="title"/>
          </p:nvPr>
        </p:nvSpPr>
        <p:spPr/>
        <p:txBody>
          <a:bodyPr/>
          <a:lstStyle/>
          <a:p>
            <a:r>
              <a:rPr lang="en-US"/>
              <a:t>Click to edit Master title style</a:t>
            </a:r>
          </a:p>
        </p:txBody>
      </p:sp>
      <p:sp>
        <p:nvSpPr>
          <p:cNvPr id="1048777"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8" name="Date Placeholder 3"/>
          <p:cNvSpPr>
            <a:spLocks noGrp="1"/>
          </p:cNvSpPr>
          <p:nvPr>
            <p:ph type="dt" sz="half" idx="10"/>
          </p:nvPr>
        </p:nvSpPr>
        <p:spPr/>
        <p:txBody>
          <a:bodyPr/>
          <a:lstStyle/>
          <a:p>
            <a:fld id="{036888AC-FB0C-48C5-9546-BFA209E1C0B0}" type="datetimeFigureOut">
              <a:rPr lang="en-US" smtClean="0"/>
              <a:t>22-Jul-25</a:t>
            </a:fld>
            <a:endParaRPr lang="en-US"/>
          </a:p>
        </p:txBody>
      </p:sp>
      <p:sp>
        <p:nvSpPr>
          <p:cNvPr id="1048779" name="Footer Placeholder 4"/>
          <p:cNvSpPr>
            <a:spLocks noGrp="1"/>
          </p:cNvSpPr>
          <p:nvPr>
            <p:ph type="ftr" sz="quarter" idx="11"/>
          </p:nvPr>
        </p:nvSpPr>
        <p:spPr/>
        <p:txBody>
          <a:bodyPr/>
          <a:lstStyle/>
          <a:p>
            <a:endParaRPr lang="en-US"/>
          </a:p>
        </p:txBody>
      </p:sp>
      <p:sp>
        <p:nvSpPr>
          <p:cNvPr id="1048780" name="Slide Number Placeholder 5"/>
          <p:cNvSpPr>
            <a:spLocks noGrp="1"/>
          </p:cNvSpPr>
          <p:nvPr>
            <p:ph type="sldNum" sz="quarter" idx="12"/>
          </p:nvPr>
        </p:nvSpPr>
        <p:spPr/>
        <p:txBody>
          <a:bodyPr/>
          <a:lstStyle/>
          <a:p>
            <a:fld id="{3DED491B-7DAF-4731-BA96-CAE54A69398C}"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71"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772"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3" name="Date Placeholder 3"/>
          <p:cNvSpPr>
            <a:spLocks noGrp="1"/>
          </p:cNvSpPr>
          <p:nvPr>
            <p:ph type="dt" sz="half" idx="10"/>
          </p:nvPr>
        </p:nvSpPr>
        <p:spPr/>
        <p:txBody>
          <a:bodyPr/>
          <a:lstStyle/>
          <a:p>
            <a:fld id="{036888AC-FB0C-48C5-9546-BFA209E1C0B0}" type="datetimeFigureOut">
              <a:rPr lang="en-US" smtClean="0"/>
              <a:t>22-Jul-25</a:t>
            </a:fld>
            <a:endParaRPr lang="en-US"/>
          </a:p>
        </p:txBody>
      </p:sp>
      <p:sp>
        <p:nvSpPr>
          <p:cNvPr id="1048774" name="Footer Placeholder 4"/>
          <p:cNvSpPr>
            <a:spLocks noGrp="1"/>
          </p:cNvSpPr>
          <p:nvPr>
            <p:ph type="ftr" sz="quarter" idx="11"/>
          </p:nvPr>
        </p:nvSpPr>
        <p:spPr/>
        <p:txBody>
          <a:bodyPr/>
          <a:lstStyle/>
          <a:p>
            <a:endParaRPr lang="en-US"/>
          </a:p>
        </p:txBody>
      </p:sp>
      <p:sp>
        <p:nvSpPr>
          <p:cNvPr id="1048775" name="Slide Number Placeholder 5"/>
          <p:cNvSpPr>
            <a:spLocks noGrp="1"/>
          </p:cNvSpPr>
          <p:nvPr>
            <p:ph type="sldNum" sz="quarter" idx="12"/>
          </p:nvPr>
        </p:nvSpPr>
        <p:spPr/>
        <p:txBody>
          <a:bodyPr/>
          <a:lstStyle/>
          <a:p>
            <a:fld id="{3DED491B-7DAF-4731-BA96-CAE54A69398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048577"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48578"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r>
              <a:rPr lang="en-US"/>
              <a:t>CS-FYP    Hamdard University </a:t>
            </a:r>
          </a:p>
        </p:txBody>
      </p:sp>
      <p:sp>
        <p:nvSpPr>
          <p:cNvPr id="1048579"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r>
              <a:rPr lang="en-US"/>
              <a:t>Project Name Here</a:t>
            </a:r>
          </a:p>
        </p:txBody>
      </p:sp>
      <p:sp>
        <p:nvSpPr>
          <p:cNvPr id="1048580"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581"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582"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58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9EBC64C3-3FC7-4C40-910B-2643F037F02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hdr="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734"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1048735"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6888AC-FB0C-48C5-9546-BFA209E1C0B0}" type="datetimeFigureOut">
              <a:rPr lang="en-US" smtClean="0"/>
              <a:t>22-Jul-25</a:t>
            </a:fld>
            <a:endParaRPr lang="en-US"/>
          </a:p>
        </p:txBody>
      </p:sp>
      <p:sp>
        <p:nvSpPr>
          <p:cNvPr id="1048737"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48738"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ED491B-7DAF-4731-BA96-CAE54A69398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hyperlink" Target="https://doi.org/10.1016/j.ejor.2017.11.054" TargetMode="Externa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3" name="Picture 2"/>
          <p:cNvPicPr>
            <a:picLocks noChangeAspect="1" noChangeArrowheads="1"/>
          </p:cNvPicPr>
          <p:nvPr/>
        </p:nvPicPr>
        <p:blipFill>
          <a:blip r:embed="rId2" cstate="print"/>
          <a:srcRect/>
          <a:stretch>
            <a:fillRect/>
          </a:stretch>
        </p:blipFill>
        <p:spPr bwMode="auto">
          <a:xfrm>
            <a:off x="1" y="4572000"/>
            <a:ext cx="9140612" cy="2321673"/>
          </a:xfrm>
          <a:prstGeom prst="rect">
            <a:avLst/>
          </a:prstGeom>
          <a:noFill/>
          <a:ln>
            <a:noFill/>
          </a:ln>
          <a:effectLst/>
        </p:spPr>
      </p:pic>
      <p:sp>
        <p:nvSpPr>
          <p:cNvPr id="1048594" name="Rectangle 11"/>
          <p:cNvSpPr/>
          <p:nvPr/>
        </p:nvSpPr>
        <p:spPr>
          <a:xfrm>
            <a:off x="-1" y="6324599"/>
            <a:ext cx="9144001" cy="457201"/>
          </a:xfrm>
          <a:prstGeom prst="rect">
            <a:avLst/>
          </a:prstGeom>
          <a:solidFill>
            <a:srgbClr val="0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33363" algn="ctr"/>
            <a:r>
              <a:rPr lang="en-US" sz="2000" dirty="0"/>
              <a:t>Hamdard University</a:t>
            </a:r>
          </a:p>
        </p:txBody>
      </p:sp>
      <p:sp>
        <p:nvSpPr>
          <p:cNvPr id="1048595" name="Rectangle 12"/>
          <p:cNvSpPr/>
          <p:nvPr/>
        </p:nvSpPr>
        <p:spPr>
          <a:xfrm>
            <a:off x="0" y="6781800"/>
            <a:ext cx="9140612" cy="114300"/>
          </a:xfrm>
          <a:prstGeom prst="rect">
            <a:avLst/>
          </a:prstGeom>
          <a:solidFill>
            <a:srgbClr val="F863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p:cNvGrpSpPr/>
          <p:nvPr/>
        </p:nvGrpSpPr>
        <p:grpSpPr>
          <a:xfrm>
            <a:off x="275731" y="220637"/>
            <a:ext cx="8639669" cy="1608163"/>
            <a:chOff x="275731" y="724507"/>
            <a:chExt cx="8639669" cy="1608163"/>
          </a:xfrm>
        </p:grpSpPr>
        <p:sp>
          <p:nvSpPr>
            <p:cNvPr id="1048587" name="Rectangle 5"/>
            <p:cNvSpPr/>
            <p:nvPr/>
          </p:nvSpPr>
          <p:spPr>
            <a:xfrm>
              <a:off x="1596608" y="724507"/>
              <a:ext cx="5994673" cy="1090650"/>
            </a:xfrm>
            <a:prstGeom prst="rect">
              <a:avLst/>
            </a:prstGeom>
            <a:solidFill>
              <a:srgbClr val="0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3525" marR="0" algn="ctr">
                <a:lnSpc>
                  <a:spcPct val="107000"/>
                </a:lnSpc>
                <a:spcBef>
                  <a:spcPts val="0"/>
                </a:spcBef>
                <a:spcAft>
                  <a:spcPts val="0"/>
                </a:spcAft>
              </a:pPr>
              <a:r>
                <a:rPr lang="en-US" sz="2400" b="1" dirty="0">
                  <a:solidFill>
                    <a:schemeClr val="bg1"/>
                  </a:solidFill>
                  <a:effectLst/>
                  <a:latin typeface="Times New Roman" panose="02020603050405020304" pitchFamily="18" charset="0"/>
                  <a:ea typeface="Times New Roman" panose="02020603050405020304" pitchFamily="18" charset="0"/>
                </a:rPr>
                <a:t>AI-Driven Stock Market Predictor with </a:t>
              </a:r>
              <a:endParaRPr lang="en-US" sz="2400" dirty="0">
                <a:solidFill>
                  <a:schemeClr val="bg1"/>
                </a:solidFill>
                <a:effectLst/>
                <a:latin typeface="Calibri" panose="020F0502020204030204" pitchFamily="34" charset="0"/>
                <a:ea typeface="Calibri" panose="020F0502020204030204" pitchFamily="34" charset="0"/>
              </a:endParaRPr>
            </a:p>
            <a:p>
              <a:pPr algn="ctr"/>
              <a:r>
                <a:rPr lang="en-US" sz="2400" b="1" dirty="0">
                  <a:solidFill>
                    <a:schemeClr val="bg1"/>
                  </a:solidFill>
                  <a:effectLst/>
                  <a:latin typeface="Times New Roman" panose="02020603050405020304" pitchFamily="18" charset="0"/>
                  <a:ea typeface="Times New Roman" panose="02020603050405020304" pitchFamily="18" charset="0"/>
                </a:rPr>
                <a:t>Sentiment Analysis </a:t>
              </a:r>
              <a:endParaRPr lang="en-US" sz="2400" dirty="0">
                <a:solidFill>
                  <a:schemeClr val="bg1"/>
                </a:solidFill>
              </a:endParaRPr>
            </a:p>
          </p:txBody>
        </p:sp>
        <p:pic>
          <p:nvPicPr>
            <p:cNvPr id="2097152" name="Picture 7"/>
            <p:cNvPicPr>
              <a:picLocks noChangeAspect="1"/>
            </p:cNvPicPr>
            <p:nvPr/>
          </p:nvPicPr>
          <p:blipFill>
            <a:blip r:embed="rId3" cstate="print"/>
            <a:stretch>
              <a:fillRect/>
            </a:stretch>
          </p:blipFill>
          <p:spPr>
            <a:xfrm>
              <a:off x="275731" y="755759"/>
              <a:ext cx="1129108" cy="1184239"/>
            </a:xfrm>
            <a:prstGeom prst="rect">
              <a:avLst/>
            </a:prstGeom>
          </p:spPr>
        </p:pic>
        <p:sp>
          <p:nvSpPr>
            <p:cNvPr id="1048593" name="Rectangle 13"/>
            <p:cNvSpPr/>
            <p:nvPr/>
          </p:nvSpPr>
          <p:spPr>
            <a:xfrm>
              <a:off x="1596608" y="1857826"/>
              <a:ext cx="5994672" cy="82172"/>
            </a:xfrm>
            <a:prstGeom prst="rect">
              <a:avLst/>
            </a:prstGeom>
            <a:solidFill>
              <a:srgbClr val="F863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99499" y="1932560"/>
              <a:ext cx="5994673" cy="400110"/>
            </a:xfrm>
            <a:prstGeom prst="rect">
              <a:avLst/>
            </a:prstGeom>
            <a:noFill/>
          </p:spPr>
          <p:txBody>
            <a:bodyPr wrap="square" rtlCol="0">
              <a:spAutoFit/>
            </a:bodyPr>
            <a:lstStyle/>
            <a:p>
              <a:pPr algn="ctr">
                <a:spcBef>
                  <a:spcPts val="600"/>
                </a:spcBef>
                <a:spcAft>
                  <a:spcPts val="600"/>
                </a:spcAft>
              </a:pPr>
              <a:r>
                <a:rPr lang="en-US" sz="2000" b="1" dirty="0"/>
                <a:t>FYP Proposal</a:t>
              </a:r>
            </a:p>
          </p:txBody>
        </p:sp>
        <p:pic>
          <p:nvPicPr>
            <p:cNvPr id="16"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86292" y="774260"/>
              <a:ext cx="1129108" cy="1129108"/>
            </a:xfrm>
            <a:prstGeom prst="rect">
              <a:avLst/>
            </a:prstGeom>
          </p:spPr>
        </p:pic>
      </p:grpSp>
      <p:graphicFrame>
        <p:nvGraphicFramePr>
          <p:cNvPr id="7" name="Table 6"/>
          <p:cNvGraphicFramePr>
            <a:graphicFrameLocks noGrp="1"/>
          </p:cNvGraphicFramePr>
          <p:nvPr>
            <p:extLst>
              <p:ext uri="{D42A27DB-BD31-4B8C-83A1-F6EECF244321}">
                <p14:modId xmlns:p14="http://schemas.microsoft.com/office/powerpoint/2010/main" val="2782332006"/>
              </p:ext>
            </p:extLst>
          </p:nvPr>
        </p:nvGraphicFramePr>
        <p:xfrm>
          <a:off x="1545944" y="1905000"/>
          <a:ext cx="6096000" cy="2590800"/>
        </p:xfrm>
        <a:graphic>
          <a:graphicData uri="http://schemas.openxmlformats.org/drawingml/2006/table">
            <a:tbl>
              <a:tblPr firstRow="1" bandRow="1">
                <a:tableStyleId>{2D5ABB26-0587-4C30-8999-92F81FD0307C}</a:tableStyleId>
              </a:tblPr>
              <a:tblGrid>
                <a:gridCol w="3330856">
                  <a:extLst>
                    <a:ext uri="{9D8B030D-6E8A-4147-A177-3AD203B41FA5}">
                      <a16:colId xmlns:a16="http://schemas.microsoft.com/office/drawing/2014/main" val="1609330656"/>
                    </a:ext>
                  </a:extLst>
                </a:gridCol>
                <a:gridCol w="2765144">
                  <a:extLst>
                    <a:ext uri="{9D8B030D-6E8A-4147-A177-3AD203B41FA5}">
                      <a16:colId xmlns:a16="http://schemas.microsoft.com/office/drawing/2014/main" val="3236874084"/>
                    </a:ext>
                  </a:extLst>
                </a:gridCol>
              </a:tblGrid>
              <a:tr h="0">
                <a:tc>
                  <a:txBody>
                    <a:bodyPr/>
                    <a:lstStyle/>
                    <a:p>
                      <a:pPr algn="r"/>
                      <a:r>
                        <a:rPr lang="en-US" dirty="0"/>
                        <a:t>Syed Muzammil Ahmed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(3014-2022)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737841493"/>
                  </a:ext>
                </a:extLst>
              </a:tr>
              <a:tr h="0">
                <a:tc>
                  <a:txBody>
                    <a:bodyPr/>
                    <a:lstStyle/>
                    <a:p>
                      <a:pPr algn="r"/>
                      <a:r>
                        <a:rPr lang="en-US" dirty="0"/>
                        <a:t>Muhammad Wasif Sajjad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(2672-2022)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70849678"/>
                  </a:ext>
                </a:extLst>
              </a:tr>
              <a:tr h="0">
                <a:tc>
                  <a:txBody>
                    <a:bodyPr/>
                    <a:lstStyle/>
                    <a:p>
                      <a:pPr algn="r"/>
                      <a:r>
                        <a:rPr lang="en-US" dirty="0" err="1">
                          <a:effectLst/>
                          <a:ea typeface="Times New Roman" panose="02020603050405020304" pitchFamily="18" charset="0"/>
                        </a:rPr>
                        <a:t>Ghufran</a:t>
                      </a:r>
                      <a:r>
                        <a:rPr lang="en-US" dirty="0">
                          <a:effectLst/>
                          <a:ea typeface="Times New Roman" panose="02020603050405020304" pitchFamily="18" charset="0"/>
                        </a:rPr>
                        <a:t>-E-Azam </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effectLst/>
                          <a:ea typeface="Times New Roman" panose="02020603050405020304" pitchFamily="18" charset="0"/>
                        </a:rPr>
                        <a:t>(2536-2022)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1031061"/>
                  </a:ext>
                </a:extLst>
              </a:tr>
              <a:tr h="370840">
                <a:tc gridSpan="2">
                  <a:txBody>
                    <a:bodyPr/>
                    <a:lstStyle/>
                    <a:p>
                      <a:pPr algn="ctr"/>
                      <a:endParaRPr lang="en-US" sz="1200" b="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t>Supervisor</a:t>
                      </a:r>
                      <a:br>
                        <a:rPr lang="en-US" sz="2000" b="0" dirty="0"/>
                      </a:br>
                      <a:r>
                        <a:rPr lang="en-US" sz="2000" b="0" dirty="0">
                          <a:effectLst/>
                          <a:ea typeface="Times New Roman" panose="02020603050405020304" pitchFamily="18" charset="0"/>
                        </a:rPr>
                        <a:t>Mr. </a:t>
                      </a:r>
                      <a:r>
                        <a:rPr kumimoji="0" lang="en-US" sz="1800" b="0" kern="1200" dirty="0">
                          <a:solidFill>
                            <a:schemeClr val="tx1"/>
                          </a:solidFill>
                          <a:effectLst/>
                          <a:latin typeface="+mn-lt"/>
                          <a:ea typeface="+mn-ea"/>
                          <a:cs typeface="+mn-cs"/>
                        </a:rPr>
                        <a:t>Taha Shabbir </a:t>
                      </a:r>
                      <a:endParaRPr lang="en-US" sz="2000" b="0" dirty="0">
                        <a:effectLst/>
                        <a:ea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t>Co-Supervisor</a:t>
                      </a:r>
                      <a:br>
                        <a:rPr lang="en-US" sz="2000" b="0" dirty="0"/>
                      </a:br>
                      <a:r>
                        <a:rPr lang="en-US" sz="2000" b="0" dirty="0">
                          <a:effectLst/>
                          <a:ea typeface="Times New Roman" panose="02020603050405020304" pitchFamily="18" charset="0"/>
                        </a:rPr>
                        <a:t>Mr. </a:t>
                      </a:r>
                      <a:r>
                        <a:rPr kumimoji="0" lang="en-US" sz="1800" b="0" kern="1200" dirty="0" err="1">
                          <a:solidFill>
                            <a:schemeClr val="tx1"/>
                          </a:solidFill>
                          <a:effectLst/>
                          <a:latin typeface="+mn-lt"/>
                          <a:ea typeface="+mn-ea"/>
                          <a:cs typeface="+mn-cs"/>
                        </a:rPr>
                        <a:t>Maaz</a:t>
                      </a:r>
                      <a:r>
                        <a:rPr kumimoji="0" lang="en-US" sz="1800" b="0" kern="1200" dirty="0">
                          <a:solidFill>
                            <a:schemeClr val="tx1"/>
                          </a:solidFill>
                          <a:effectLst/>
                          <a:latin typeface="+mn-lt"/>
                          <a:ea typeface="+mn-ea"/>
                          <a:cs typeface="+mn-cs"/>
                        </a:rPr>
                        <a:t> Ahmed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3287309"/>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Title 1"/>
          <p:cNvSpPr>
            <a:spLocks noGrp="1"/>
          </p:cNvSpPr>
          <p:nvPr>
            <p:ph type="title"/>
          </p:nvPr>
        </p:nvSpPr>
        <p:spPr/>
        <p:txBody>
          <a:bodyPr/>
          <a:lstStyle/>
          <a:p>
            <a:r>
              <a:rPr lang="en-US" dirty="0">
                <a:solidFill>
                  <a:schemeClr val="dk2"/>
                </a:solidFill>
                <a:latin typeface="Twentieth Century"/>
                <a:ea typeface="Twentieth Century"/>
                <a:cs typeface="Twentieth Century"/>
              </a:rPr>
              <a:t>Outline</a:t>
            </a:r>
            <a:endParaRPr lang="en-US" dirty="0"/>
          </a:p>
        </p:txBody>
      </p:sp>
      <p:sp>
        <p:nvSpPr>
          <p:cNvPr id="2" name="Content Placeholder 1"/>
          <p:cNvSpPr>
            <a:spLocks noGrp="1"/>
          </p:cNvSpPr>
          <p:nvPr>
            <p:ph sz="quarter" idx="1"/>
          </p:nvPr>
        </p:nvSpPr>
        <p:spPr/>
        <p:txBody>
          <a:bodyPr>
            <a:normAutofit/>
          </a:bodyPr>
          <a:lstStyle/>
          <a:p>
            <a:pPr>
              <a:lnSpc>
                <a:spcPct val="120000"/>
              </a:lnSpc>
              <a:spcBef>
                <a:spcPts val="400"/>
              </a:spcBef>
              <a:buSzPct val="59999"/>
              <a:buFont typeface="Wingdings" panose="05000000000000000000" pitchFamily="2" charset="2"/>
              <a:buChar char="§"/>
            </a:pPr>
            <a:r>
              <a:rPr lang="en-US" sz="1600" dirty="0"/>
              <a:t>Group Introduction</a:t>
            </a:r>
          </a:p>
          <a:p>
            <a:pPr>
              <a:lnSpc>
                <a:spcPct val="120000"/>
              </a:lnSpc>
              <a:spcBef>
                <a:spcPts val="400"/>
              </a:spcBef>
              <a:buSzPct val="59999"/>
              <a:buFont typeface="Wingdings" panose="05000000000000000000" pitchFamily="2" charset="2"/>
              <a:buChar char="§"/>
            </a:pPr>
            <a:r>
              <a:rPr lang="en-US" sz="1600" dirty="0"/>
              <a:t>Problem Statement </a:t>
            </a:r>
          </a:p>
          <a:p>
            <a:pPr>
              <a:lnSpc>
                <a:spcPct val="120000"/>
              </a:lnSpc>
              <a:spcBef>
                <a:spcPts val="400"/>
              </a:spcBef>
              <a:buSzPct val="59999"/>
              <a:buFont typeface="Wingdings" panose="05000000000000000000" pitchFamily="2" charset="2"/>
              <a:buChar char="§"/>
            </a:pPr>
            <a:r>
              <a:rPr lang="en-US" sz="1600" dirty="0"/>
              <a:t>Project Objectives</a:t>
            </a:r>
          </a:p>
          <a:p>
            <a:pPr>
              <a:spcBef>
                <a:spcPts val="400"/>
              </a:spcBef>
              <a:buSzPct val="59999"/>
              <a:buFont typeface="Wingdings" panose="05000000000000000000" pitchFamily="2" charset="2"/>
              <a:buChar char="§"/>
            </a:pPr>
            <a:r>
              <a:rPr lang="en-US" sz="1600" dirty="0"/>
              <a:t>Project Scope</a:t>
            </a:r>
          </a:p>
          <a:p>
            <a:pPr>
              <a:spcBef>
                <a:spcPts val="400"/>
              </a:spcBef>
              <a:buSzPct val="59999"/>
              <a:buFont typeface="Wingdings" panose="05000000000000000000" pitchFamily="2" charset="2"/>
              <a:buChar char="§"/>
            </a:pPr>
            <a:r>
              <a:rPr lang="en-US" sz="1600" dirty="0"/>
              <a:t>Comprehensive Literature Review</a:t>
            </a:r>
          </a:p>
          <a:p>
            <a:pPr>
              <a:spcBef>
                <a:spcPts val="400"/>
              </a:spcBef>
              <a:buSzPct val="59999"/>
              <a:buFont typeface="Wingdings" panose="05000000000000000000" pitchFamily="2" charset="2"/>
              <a:buChar char="§"/>
            </a:pPr>
            <a:r>
              <a:rPr lang="en-US" sz="1600" dirty="0"/>
              <a:t>Architectural Big Picture</a:t>
            </a:r>
          </a:p>
          <a:p>
            <a:pPr>
              <a:spcBef>
                <a:spcPts val="400"/>
              </a:spcBef>
              <a:buSzPct val="59999"/>
              <a:buFont typeface="Wingdings" panose="05000000000000000000" pitchFamily="2" charset="2"/>
              <a:buChar char="§"/>
            </a:pPr>
            <a:r>
              <a:rPr lang="en-US" sz="1600" dirty="0"/>
              <a:t>Methodology</a:t>
            </a:r>
          </a:p>
          <a:p>
            <a:pPr>
              <a:spcBef>
                <a:spcPts val="400"/>
              </a:spcBef>
              <a:buSzPct val="59999"/>
              <a:buFont typeface="Wingdings" panose="05000000000000000000" pitchFamily="2" charset="2"/>
              <a:buChar char="§"/>
            </a:pPr>
            <a:r>
              <a:rPr lang="en-US" sz="1600" dirty="0"/>
              <a:t>Role &amp; Responsibility</a:t>
            </a:r>
          </a:p>
          <a:p>
            <a:pPr>
              <a:spcBef>
                <a:spcPts val="400"/>
              </a:spcBef>
              <a:buSzPct val="59999"/>
              <a:buFont typeface="Wingdings" panose="05000000000000000000" pitchFamily="2" charset="2"/>
              <a:buChar char="§"/>
            </a:pPr>
            <a:r>
              <a:rPr lang="en-US" sz="1600" dirty="0"/>
              <a:t>Project Milestones</a:t>
            </a:r>
          </a:p>
          <a:p>
            <a:pPr>
              <a:spcBef>
                <a:spcPts val="400"/>
              </a:spcBef>
              <a:buSzPct val="59999"/>
              <a:buFont typeface="Wingdings" panose="05000000000000000000" pitchFamily="2" charset="2"/>
              <a:buChar char="§"/>
            </a:pPr>
            <a:r>
              <a:rPr lang="en-US" sz="1600" dirty="0"/>
              <a:t>Project Plan (Time lines)</a:t>
            </a:r>
          </a:p>
          <a:p>
            <a:pPr>
              <a:spcBef>
                <a:spcPts val="400"/>
              </a:spcBef>
              <a:buSzPct val="59999"/>
              <a:buFont typeface="Wingdings" panose="05000000000000000000" pitchFamily="2" charset="2"/>
              <a:buChar char="§"/>
            </a:pPr>
            <a:r>
              <a:rPr lang="en-US" sz="1600" dirty="0"/>
              <a:t>Project Tools</a:t>
            </a:r>
          </a:p>
          <a:p>
            <a:pPr>
              <a:spcBef>
                <a:spcPts val="400"/>
              </a:spcBef>
              <a:buSzPct val="59999"/>
              <a:buFont typeface="Wingdings" panose="05000000000000000000" pitchFamily="2" charset="2"/>
              <a:buChar char="§"/>
            </a:pPr>
            <a:r>
              <a:rPr lang="en-US" sz="1600" dirty="0"/>
              <a:t>Project Deliverables</a:t>
            </a:r>
          </a:p>
          <a:p>
            <a:pPr>
              <a:spcBef>
                <a:spcPts val="400"/>
              </a:spcBef>
              <a:buSzPct val="59999"/>
              <a:buFont typeface="Wingdings" panose="05000000000000000000" pitchFamily="2" charset="2"/>
              <a:buChar char="§"/>
            </a:pPr>
            <a:r>
              <a:rPr lang="en-US" sz="1600" dirty="0"/>
              <a:t>References</a:t>
            </a:r>
          </a:p>
        </p:txBody>
      </p:sp>
      <p:sp>
        <p:nvSpPr>
          <p:cNvPr id="1048605" name="Slide Number Placeholder 7"/>
          <p:cNvSpPr>
            <a:spLocks noGrp="1"/>
          </p:cNvSpPr>
          <p:nvPr>
            <p:ph type="sldNum" sz="quarter" idx="16"/>
          </p:nvPr>
        </p:nvSpPr>
        <p:spPr/>
        <p:txBody>
          <a:bodyPr>
            <a:normAutofit fontScale="85000" lnSpcReduction="20000"/>
          </a:bodyPr>
          <a:lstStyle/>
          <a:p>
            <a:fld id="{9EBC64C3-3FC7-4C40-910B-2643F037F02C}" type="slidenum">
              <a:rPr lang="en-US" smtClean="0"/>
              <a:t>2</a:t>
            </a:fld>
            <a:endParaRPr lang="en-US" dirty="0"/>
          </a:p>
        </p:txBody>
      </p:sp>
      <p:sp>
        <p:nvSpPr>
          <p:cNvPr id="1048604" name="Date Placeholder 5"/>
          <p:cNvSpPr>
            <a:spLocks noGrp="1"/>
          </p:cNvSpPr>
          <p:nvPr>
            <p:ph type="dt" sz="half" idx="10"/>
          </p:nvPr>
        </p:nvSpPr>
        <p:spPr/>
        <p:txBody>
          <a:bodyPr/>
          <a:lstStyle/>
          <a:p>
            <a:r>
              <a:rPr lang="en-US" sz="1200" dirty="0"/>
              <a:t>CS-FYP</a:t>
            </a:r>
            <a:r>
              <a:rPr lang="en-US" dirty="0"/>
              <a:t>    </a:t>
            </a:r>
            <a:r>
              <a:rPr lang="en-US" dirty="0" err="1"/>
              <a:t>Hamdard</a:t>
            </a:r>
            <a:r>
              <a:rPr lang="en-US" dirty="0"/>
              <a:t> University </a:t>
            </a:r>
          </a:p>
        </p:txBody>
      </p:sp>
      <p:sp>
        <p:nvSpPr>
          <p:cNvPr id="1048603" name="Footer Placeholder 3"/>
          <p:cNvSpPr>
            <a:spLocks noGrp="1"/>
          </p:cNvSpPr>
          <p:nvPr>
            <p:ph type="ftr" sz="quarter" idx="4294967295"/>
          </p:nvPr>
        </p:nvSpPr>
        <p:spPr>
          <a:xfrm>
            <a:off x="609600" y="6454774"/>
            <a:ext cx="5410200" cy="288925"/>
          </a:xfrm>
          <a:solidFill>
            <a:srgbClr val="F86308"/>
          </a:solidFill>
        </p:spPr>
        <p:txBody>
          <a:bodyPr/>
          <a:lstStyle/>
          <a:p>
            <a:r>
              <a:rPr lang="en-US" sz="1400" dirty="0"/>
              <a:t>AI-Driven Stock Market Predictor with  Sentiment Analysis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Title 1"/>
          <p:cNvSpPr>
            <a:spLocks noGrp="1"/>
          </p:cNvSpPr>
          <p:nvPr>
            <p:ph type="title"/>
          </p:nvPr>
        </p:nvSpPr>
        <p:spPr/>
        <p:txBody>
          <a:bodyPr>
            <a:normAutofit/>
          </a:bodyPr>
          <a:lstStyle/>
          <a:p>
            <a:r>
              <a:rPr lang="en-US" dirty="0">
                <a:solidFill>
                  <a:schemeClr val="dk2"/>
                </a:solidFill>
                <a:latin typeface="Twentieth Century"/>
                <a:ea typeface="Twentieth Century"/>
                <a:cs typeface="Twentieth Century"/>
              </a:rPr>
              <a:t>Group </a:t>
            </a:r>
            <a:r>
              <a:rPr lang="en-US" b="1" dirty="0">
                <a:solidFill>
                  <a:schemeClr val="dk2"/>
                </a:solidFill>
                <a:latin typeface="Twentieth Century"/>
                <a:ea typeface="Twentieth Century"/>
                <a:cs typeface="Twentieth Century"/>
              </a:rPr>
              <a:t>Introduction</a:t>
            </a:r>
            <a:r>
              <a:rPr lang="en-US" dirty="0">
                <a:solidFill>
                  <a:schemeClr val="dk2"/>
                </a:solidFill>
                <a:latin typeface="Twentieth Century"/>
                <a:ea typeface="Twentieth Century"/>
                <a:cs typeface="Twentieth Century"/>
              </a:rPr>
              <a:t> </a:t>
            </a:r>
          </a:p>
        </p:txBody>
      </p:sp>
      <p:sp>
        <p:nvSpPr>
          <p:cNvPr id="1048608" name="Content Placeholder 2"/>
          <p:cNvSpPr>
            <a:spLocks noGrp="1"/>
          </p:cNvSpPr>
          <p:nvPr>
            <p:ph sz="quarter" idx="1"/>
          </p:nvPr>
        </p:nvSpPr>
        <p:spPr>
          <a:xfrm>
            <a:off x="533400" y="1524000"/>
            <a:ext cx="8382000" cy="4724400"/>
          </a:xfrm>
        </p:spPr>
        <p:txBody>
          <a:bodyPr>
            <a:normAutofit fontScale="95000"/>
          </a:bodyPr>
          <a:lstStyle/>
          <a:p>
            <a:pPr marL="0" indent="0" rtl="0">
              <a:buNone/>
            </a:pPr>
            <a:r>
              <a:rPr lang="en-US" sz="1600" b="1" dirty="0">
                <a:latin typeface="+mn-lt"/>
              </a:rPr>
              <a:t>Group Members</a:t>
            </a:r>
            <a:r>
              <a:rPr lang="en-US" sz="1600" dirty="0">
                <a:latin typeface="+mn-lt"/>
              </a:rPr>
              <a:t>:</a:t>
            </a:r>
          </a:p>
          <a:p>
            <a:r>
              <a:rPr lang="en-US" sz="1600" dirty="0">
                <a:latin typeface="+mn-lt"/>
              </a:rPr>
              <a:t>Syed Muzammil Ahmed (3014-2022)</a:t>
            </a:r>
          </a:p>
          <a:p>
            <a:r>
              <a:rPr lang="en-US" sz="1600" dirty="0">
                <a:latin typeface="+mn-lt"/>
              </a:rPr>
              <a:t>Muhammad Wasif Sajjad (2672-2022)</a:t>
            </a:r>
          </a:p>
          <a:p>
            <a:r>
              <a:rPr lang="en-US" sz="1600" dirty="0" err="1">
                <a:latin typeface="+mn-lt"/>
              </a:rPr>
              <a:t>Ghufran</a:t>
            </a:r>
            <a:r>
              <a:rPr lang="en-US" sz="1600" dirty="0">
                <a:latin typeface="+mn-lt"/>
              </a:rPr>
              <a:t>-E-Azam (2536-2022)</a:t>
            </a:r>
          </a:p>
          <a:p>
            <a:pPr marL="0" indent="0">
              <a:buNone/>
            </a:pPr>
            <a:endParaRPr lang="en-US" sz="1600" dirty="0">
              <a:latin typeface="+mn-lt"/>
            </a:endParaRPr>
          </a:p>
          <a:p>
            <a:pPr marL="0" indent="0" rtl="0">
              <a:buNone/>
            </a:pPr>
            <a:r>
              <a:rPr lang="en-US" sz="1600" b="1" dirty="0">
                <a:latin typeface="+mn-lt"/>
              </a:rPr>
              <a:t>Supervisor</a:t>
            </a:r>
            <a:r>
              <a:rPr lang="en-US" sz="1600" dirty="0">
                <a:latin typeface="+mn-lt"/>
              </a:rPr>
              <a:t>: Taha Shabbir</a:t>
            </a:r>
          </a:p>
          <a:p>
            <a:r>
              <a:rPr lang="en-US" sz="1600" b="1" dirty="0">
                <a:latin typeface="+mn-lt"/>
              </a:rPr>
              <a:t>Why Selected?</a:t>
            </a:r>
            <a:r>
              <a:rPr lang="en-US" sz="1600" dirty="0">
                <a:latin typeface="+mn-lt"/>
              </a:rPr>
              <a:t>: Expertise in AI, machine learning, and data science, with experience in supervising projects involving predictive modeling and sentiment analysis.</a:t>
            </a:r>
          </a:p>
          <a:p>
            <a:r>
              <a:rPr lang="en-US" sz="1600" b="1" dirty="0">
                <a:latin typeface="+mn-lt"/>
              </a:rPr>
              <a:t>Relevant Experience</a:t>
            </a:r>
            <a:r>
              <a:rPr lang="en-US" sz="1600" dirty="0">
                <a:latin typeface="+mn-lt"/>
              </a:rPr>
              <a:t>: Extensive knowledge in deep learning and NLP, ensuring valuable guidance for integrating sentiment analysis with stock market prediction.</a:t>
            </a:r>
          </a:p>
          <a:p>
            <a:pPr marL="0" indent="0" rtl="0">
              <a:buNone/>
            </a:pPr>
            <a:endParaRPr lang="en-US" sz="1600" b="1" dirty="0">
              <a:latin typeface="+mn-lt"/>
            </a:endParaRPr>
          </a:p>
          <a:p>
            <a:pPr marL="0" indent="0" rtl="0">
              <a:buNone/>
            </a:pPr>
            <a:r>
              <a:rPr lang="en-US" sz="1600" b="1" dirty="0">
                <a:latin typeface="+mn-lt"/>
              </a:rPr>
              <a:t>Co-Supervisor</a:t>
            </a:r>
            <a:r>
              <a:rPr lang="en-US" sz="1600" dirty="0">
                <a:latin typeface="+mn-lt"/>
              </a:rPr>
              <a:t>: </a:t>
            </a:r>
            <a:r>
              <a:rPr lang="en-US" sz="1600" dirty="0" err="1">
                <a:latin typeface="+mn-lt"/>
              </a:rPr>
              <a:t>Maaz</a:t>
            </a:r>
            <a:r>
              <a:rPr lang="en-US" sz="1600" dirty="0">
                <a:latin typeface="+mn-lt"/>
              </a:rPr>
              <a:t> Ahmed</a:t>
            </a:r>
          </a:p>
          <a:p>
            <a:r>
              <a:rPr lang="en-US" sz="1600" dirty="0">
                <a:latin typeface="+mn-lt"/>
              </a:rPr>
              <a:t>Supports project oversight and technical mentorship.</a:t>
            </a:r>
          </a:p>
          <a:p>
            <a:pPr marL="365760" lvl="1" indent="0">
              <a:buNone/>
            </a:pPr>
            <a:endParaRPr lang="en-US" sz="1600" dirty="0">
              <a:latin typeface="+mn-lt"/>
            </a:endParaRPr>
          </a:p>
        </p:txBody>
      </p:sp>
      <p:sp>
        <p:nvSpPr>
          <p:cNvPr id="1048609" name="Footer Placeholder 3"/>
          <p:cNvSpPr>
            <a:spLocks noGrp="1"/>
          </p:cNvSpPr>
          <p:nvPr>
            <p:ph type="ftr" sz="quarter" idx="11"/>
          </p:nvPr>
        </p:nvSpPr>
        <p:spPr/>
        <p:txBody>
          <a:bodyPr/>
          <a:lstStyle/>
          <a:p>
            <a:r>
              <a:rPr lang="en-US" sz="1400" dirty="0"/>
              <a:t>AI-Driven Stock Market Predictor with  Sentiment Analysis </a:t>
            </a:r>
          </a:p>
        </p:txBody>
      </p:sp>
      <p:sp>
        <p:nvSpPr>
          <p:cNvPr id="1048610" name="Date Placeholder 5"/>
          <p:cNvSpPr>
            <a:spLocks noGrp="1"/>
          </p:cNvSpPr>
          <p:nvPr>
            <p:ph type="dt" sz="half" idx="10"/>
          </p:nvPr>
        </p:nvSpPr>
        <p:spPr/>
        <p:txBody>
          <a:bodyPr/>
          <a:lstStyle/>
          <a:p>
            <a:r>
              <a:rPr lang="en-US" sz="1200"/>
              <a:t>CS-FYP    Hamdard University </a:t>
            </a:r>
            <a:endParaRPr lang="en-US" sz="1200" dirty="0"/>
          </a:p>
        </p:txBody>
      </p:sp>
      <p:sp>
        <p:nvSpPr>
          <p:cNvPr id="1048611" name="Slide Number Placeholder 6"/>
          <p:cNvSpPr>
            <a:spLocks noGrp="1"/>
          </p:cNvSpPr>
          <p:nvPr>
            <p:ph type="sldNum" sz="quarter" idx="12"/>
          </p:nvPr>
        </p:nvSpPr>
        <p:spPr/>
        <p:txBody>
          <a:bodyPr/>
          <a:lstStyle/>
          <a:p>
            <a:fld id="{9EBC64C3-3FC7-4C40-910B-2643F037F02C}" type="slidenum">
              <a:rPr lang="en-US" smtClean="0"/>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Title 1"/>
          <p:cNvSpPr>
            <a:spLocks noGrp="1"/>
          </p:cNvSpPr>
          <p:nvPr>
            <p:ph type="title"/>
          </p:nvPr>
        </p:nvSpPr>
        <p:spPr/>
        <p:txBody>
          <a:bodyPr>
            <a:normAutofit/>
          </a:bodyPr>
          <a:lstStyle/>
          <a:p>
            <a:r>
              <a:rPr lang="en-US" b="1" dirty="0">
                <a:solidFill>
                  <a:schemeClr val="dk2"/>
                </a:solidFill>
                <a:latin typeface="Twentieth Century"/>
                <a:ea typeface="Twentieth Century"/>
                <a:cs typeface="Twentieth Century"/>
              </a:rPr>
              <a:t>Problem </a:t>
            </a:r>
            <a:r>
              <a:rPr lang="en-US" dirty="0">
                <a:solidFill>
                  <a:schemeClr val="dk2"/>
                </a:solidFill>
                <a:latin typeface="Twentieth Century"/>
                <a:ea typeface="Twentieth Century"/>
                <a:cs typeface="Twentieth Century"/>
              </a:rPr>
              <a:t>Statement</a:t>
            </a:r>
          </a:p>
        </p:txBody>
      </p:sp>
      <p:sp>
        <p:nvSpPr>
          <p:cNvPr id="1048613" name="Content Placeholder 2"/>
          <p:cNvSpPr>
            <a:spLocks noGrp="1"/>
          </p:cNvSpPr>
          <p:nvPr>
            <p:ph sz="quarter" idx="1"/>
          </p:nvPr>
        </p:nvSpPr>
        <p:spPr>
          <a:xfrm>
            <a:off x="571500" y="2057400"/>
            <a:ext cx="8305799" cy="5029200"/>
          </a:xfrm>
        </p:spPr>
        <p:txBody>
          <a:bodyPr>
            <a:normAutofit/>
          </a:bodyPr>
          <a:lstStyle/>
          <a:p>
            <a:pPr marL="233363" lvl="2" indent="0" algn="ctr">
              <a:buNone/>
            </a:pPr>
            <a:endParaRPr lang="en-US" sz="2000" dirty="0">
              <a:latin typeface="+mn-lt"/>
            </a:endParaRPr>
          </a:p>
          <a:p>
            <a:pPr rtl="0"/>
            <a:r>
              <a:rPr lang="en-US" sz="1800" b="0" i="0" dirty="0">
                <a:effectLst/>
                <a:latin typeface="+mn-lt"/>
              </a:rPr>
              <a:t>Forecasting stock prices on the Pakistan Stock Exchange (PSX) is challenging due to high market volatility, economic uncertainty, and price swings influenced by investor sentiment. Traditional models mostly use historical price and volume data but often miss the impact of real-time news and market mood, reducing accuracy. Research shows that combining quantitative data with sentiment analysis from news or social media could improve predictions, but such integrated approaches are still not common for PSX (Khan et al., 2023; Raza et al., 2025). This gap highlights the need for hybrid models that capture both numerical trends and investor psychology to enhance forecasting performance in Pakistan’s volatile market.</a:t>
            </a:r>
            <a:endParaRPr lang="en-US" sz="3200" dirty="0">
              <a:latin typeface="+mn-lt"/>
            </a:endParaRPr>
          </a:p>
        </p:txBody>
      </p:sp>
      <p:sp>
        <p:nvSpPr>
          <p:cNvPr id="1048614" name="Footer Placeholder 3"/>
          <p:cNvSpPr>
            <a:spLocks noGrp="1"/>
          </p:cNvSpPr>
          <p:nvPr>
            <p:ph type="ftr" sz="quarter" idx="11"/>
          </p:nvPr>
        </p:nvSpPr>
        <p:spPr/>
        <p:txBody>
          <a:bodyPr/>
          <a:lstStyle/>
          <a:p>
            <a:r>
              <a:rPr lang="en-US" sz="1200" dirty="0"/>
              <a:t>AI-Driven Stock Market Predictor with  Sentiment Analysis </a:t>
            </a:r>
          </a:p>
        </p:txBody>
      </p:sp>
      <p:sp>
        <p:nvSpPr>
          <p:cNvPr id="1048615" name="Date Placeholder 5"/>
          <p:cNvSpPr>
            <a:spLocks noGrp="1"/>
          </p:cNvSpPr>
          <p:nvPr>
            <p:ph type="dt" sz="half" idx="10"/>
          </p:nvPr>
        </p:nvSpPr>
        <p:spPr/>
        <p:txBody>
          <a:bodyPr/>
          <a:lstStyle/>
          <a:p>
            <a:r>
              <a:rPr lang="en-US" sz="1200"/>
              <a:t>CS-FYP    Hamdard University </a:t>
            </a:r>
            <a:endParaRPr lang="en-US" sz="1200" dirty="0"/>
          </a:p>
        </p:txBody>
      </p:sp>
      <p:sp>
        <p:nvSpPr>
          <p:cNvPr id="1048616" name="Slide Number Placeholder 6"/>
          <p:cNvSpPr>
            <a:spLocks noGrp="1"/>
          </p:cNvSpPr>
          <p:nvPr>
            <p:ph type="sldNum" sz="quarter" idx="12"/>
          </p:nvPr>
        </p:nvSpPr>
        <p:spPr/>
        <p:txBody>
          <a:bodyPr/>
          <a:lstStyle/>
          <a:p>
            <a:fld id="{9EBC64C3-3FC7-4C40-910B-2643F037F02C}" type="slidenum">
              <a:rPr lang="en-US" smtClean="0"/>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Title 1"/>
          <p:cNvSpPr>
            <a:spLocks noGrp="1"/>
          </p:cNvSpPr>
          <p:nvPr>
            <p:ph type="title"/>
          </p:nvPr>
        </p:nvSpPr>
        <p:spPr/>
        <p:txBody>
          <a:bodyPr/>
          <a:lstStyle/>
          <a:p>
            <a:r>
              <a:rPr lang="en-US" dirty="0"/>
              <a:t>Project </a:t>
            </a:r>
            <a:r>
              <a:rPr lang="en-US" b="1" dirty="0"/>
              <a:t>Objectives</a:t>
            </a:r>
          </a:p>
        </p:txBody>
      </p:sp>
      <p:sp>
        <p:nvSpPr>
          <p:cNvPr id="1048618" name="Date Placeholder 2"/>
          <p:cNvSpPr>
            <a:spLocks noGrp="1"/>
          </p:cNvSpPr>
          <p:nvPr>
            <p:ph type="dt" sz="half" idx="10"/>
          </p:nvPr>
        </p:nvSpPr>
        <p:spPr/>
        <p:txBody>
          <a:bodyPr/>
          <a:lstStyle/>
          <a:p>
            <a:r>
              <a:rPr lang="en-US" sz="1200" dirty="0"/>
              <a:t>CS-FYP    </a:t>
            </a:r>
            <a:r>
              <a:rPr lang="en-US" sz="1200" dirty="0" err="1"/>
              <a:t>Hamdard</a:t>
            </a:r>
            <a:r>
              <a:rPr lang="en-US" sz="1200" dirty="0"/>
              <a:t> University </a:t>
            </a:r>
          </a:p>
        </p:txBody>
      </p:sp>
      <p:sp>
        <p:nvSpPr>
          <p:cNvPr id="1048619" name="Footer Placeholder 3"/>
          <p:cNvSpPr>
            <a:spLocks noGrp="1"/>
          </p:cNvSpPr>
          <p:nvPr>
            <p:ph type="ftr" sz="quarter" idx="11"/>
          </p:nvPr>
        </p:nvSpPr>
        <p:spPr/>
        <p:txBody>
          <a:bodyPr/>
          <a:lstStyle/>
          <a:p>
            <a:r>
              <a:rPr lang="en-US" sz="1400" dirty="0"/>
              <a:t>AI-Driven Stock Market Predictor with  Sentiment Analysis </a:t>
            </a:r>
          </a:p>
        </p:txBody>
      </p:sp>
      <p:sp>
        <p:nvSpPr>
          <p:cNvPr id="1048620" name="Slide Number Placeholder 4"/>
          <p:cNvSpPr>
            <a:spLocks noGrp="1"/>
          </p:cNvSpPr>
          <p:nvPr>
            <p:ph type="sldNum" sz="quarter" idx="12"/>
          </p:nvPr>
        </p:nvSpPr>
        <p:spPr/>
        <p:txBody>
          <a:bodyPr/>
          <a:lstStyle/>
          <a:p>
            <a:fld id="{9EBC64C3-3FC7-4C40-910B-2643F037F02C}" type="slidenum">
              <a:rPr lang="en-US" smtClean="0"/>
              <a:t>5</a:t>
            </a:fld>
            <a:endParaRPr lang="en-US" dirty="0"/>
          </a:p>
        </p:txBody>
      </p:sp>
      <p:sp>
        <p:nvSpPr>
          <p:cNvPr id="1048621" name="Content Placeholder 5"/>
          <p:cNvSpPr>
            <a:spLocks noGrp="1"/>
          </p:cNvSpPr>
          <p:nvPr>
            <p:ph sz="quarter" idx="1"/>
          </p:nvPr>
        </p:nvSpPr>
        <p:spPr>
          <a:xfrm>
            <a:off x="495300" y="1905000"/>
            <a:ext cx="8153400" cy="4495800"/>
          </a:xfrm>
        </p:spPr>
        <p:txBody>
          <a:bodyPr>
            <a:normAutofit/>
          </a:bodyPr>
          <a:lstStyle/>
          <a:p>
            <a:pPr algn="l">
              <a:buFont typeface="Arial" panose="020B0604020202020204" pitchFamily="34" charset="0"/>
              <a:buChar char="•"/>
            </a:pPr>
            <a:r>
              <a:rPr lang="en-US" sz="1800" b="0" i="0" dirty="0">
                <a:effectLst/>
                <a:latin typeface="+mn-lt"/>
              </a:rPr>
              <a:t>Develop a hybrid predictive model that combines financial time-series data with sentiment analysis to forecast HBL stock prices on the PSX.</a:t>
            </a:r>
          </a:p>
          <a:p>
            <a:pPr algn="l">
              <a:buFont typeface="Arial" panose="020B0604020202020204" pitchFamily="34" charset="0"/>
              <a:buChar char="•"/>
            </a:pPr>
            <a:r>
              <a:rPr lang="en-US" sz="1800" b="0" i="0" dirty="0">
                <a:effectLst/>
                <a:latin typeface="+mn-lt"/>
              </a:rPr>
              <a:t>Utilize </a:t>
            </a:r>
            <a:r>
              <a:rPr lang="en-US" sz="1800" b="0" i="0" dirty="0" err="1">
                <a:effectLst/>
                <a:latin typeface="+mn-lt"/>
              </a:rPr>
              <a:t>FinBERT</a:t>
            </a:r>
            <a:r>
              <a:rPr lang="en-US" sz="1800" b="0" i="0" dirty="0">
                <a:effectLst/>
                <a:latin typeface="+mn-lt"/>
              </a:rPr>
              <a:t> and the Loughran-McDonald financial sentiment dictionary to extract accurate domain-specific sentiment from local news sources.</a:t>
            </a:r>
          </a:p>
          <a:p>
            <a:pPr algn="l">
              <a:buFont typeface="Arial" panose="020B0604020202020204" pitchFamily="34" charset="0"/>
              <a:buChar char="•"/>
            </a:pPr>
            <a:r>
              <a:rPr lang="en-US" sz="1800" b="0" i="0" dirty="0">
                <a:effectLst/>
                <a:latin typeface="+mn-lt"/>
              </a:rPr>
              <a:t>Employ LSTM neural networks to model sequential dependencies and capture stock movement trends effectively.</a:t>
            </a:r>
          </a:p>
          <a:p>
            <a:pPr algn="l">
              <a:buFont typeface="Arial" panose="020B0604020202020204" pitchFamily="34" charset="0"/>
              <a:buChar char="•"/>
            </a:pPr>
            <a:r>
              <a:rPr lang="en-US" sz="1800" b="0" i="0" dirty="0">
                <a:effectLst/>
                <a:latin typeface="+mn-lt"/>
              </a:rPr>
              <a:t>Achieve and validate prediction accuracy between 85–90% using evaluation metrics such as RMSE, MAPE, and directional accuracy.</a:t>
            </a:r>
          </a:p>
          <a:p>
            <a:pPr algn="l">
              <a:buFont typeface="Arial" panose="020B0604020202020204" pitchFamily="34" charset="0"/>
              <a:buChar char="•"/>
            </a:pPr>
            <a:r>
              <a:rPr lang="en-US" sz="1800" b="0" i="0" dirty="0">
                <a:effectLst/>
                <a:latin typeface="+mn-lt"/>
              </a:rPr>
              <a:t>Build a scalable and ethically responsible framework suitable for future academic research and practical financial analysis.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Title 1"/>
          <p:cNvSpPr>
            <a:spLocks noGrp="1"/>
          </p:cNvSpPr>
          <p:nvPr>
            <p:ph type="title"/>
          </p:nvPr>
        </p:nvSpPr>
        <p:spPr/>
        <p:txBody>
          <a:bodyPr>
            <a:normAutofit/>
          </a:bodyPr>
          <a:lstStyle/>
          <a:p>
            <a:r>
              <a:rPr lang="en-US" dirty="0">
                <a:solidFill>
                  <a:schemeClr val="dk2"/>
                </a:solidFill>
                <a:latin typeface="Twentieth Century"/>
                <a:ea typeface="Twentieth Century"/>
                <a:cs typeface="Twentieth Century"/>
              </a:rPr>
              <a:t>Project </a:t>
            </a:r>
            <a:r>
              <a:rPr lang="en-US" b="1" dirty="0">
                <a:solidFill>
                  <a:schemeClr val="dk2"/>
                </a:solidFill>
                <a:latin typeface="Twentieth Century"/>
                <a:ea typeface="Twentieth Century"/>
                <a:cs typeface="Twentieth Century"/>
              </a:rPr>
              <a:t>Scope</a:t>
            </a:r>
          </a:p>
        </p:txBody>
      </p:sp>
      <p:sp>
        <p:nvSpPr>
          <p:cNvPr id="1048629" name="Footer Placeholder 3"/>
          <p:cNvSpPr>
            <a:spLocks noGrp="1"/>
          </p:cNvSpPr>
          <p:nvPr>
            <p:ph type="ftr" sz="quarter" idx="11"/>
          </p:nvPr>
        </p:nvSpPr>
        <p:spPr/>
        <p:txBody>
          <a:bodyPr/>
          <a:lstStyle/>
          <a:p>
            <a:r>
              <a:rPr lang="en-US" sz="1400" dirty="0"/>
              <a:t>AI-Driven Stock Market Predictor with  Sentiment Analysis </a:t>
            </a:r>
          </a:p>
        </p:txBody>
      </p:sp>
      <p:sp>
        <p:nvSpPr>
          <p:cNvPr id="1048630" name="Date Placeholder 5"/>
          <p:cNvSpPr>
            <a:spLocks noGrp="1"/>
          </p:cNvSpPr>
          <p:nvPr>
            <p:ph type="dt" sz="half" idx="10"/>
          </p:nvPr>
        </p:nvSpPr>
        <p:spPr>
          <a:xfrm>
            <a:off x="6248400" y="6400800"/>
            <a:ext cx="2514600" cy="304800"/>
          </a:xfrm>
        </p:spPr>
        <p:txBody>
          <a:bodyPr/>
          <a:lstStyle/>
          <a:p>
            <a:r>
              <a:rPr lang="en-US"/>
              <a:t>CS-FYP    Hamdard University </a:t>
            </a:r>
            <a:endParaRPr lang="en-US" dirty="0"/>
          </a:p>
        </p:txBody>
      </p:sp>
      <p:sp>
        <p:nvSpPr>
          <p:cNvPr id="1048631" name="Slide Number Placeholder 6"/>
          <p:cNvSpPr>
            <a:spLocks noGrp="1"/>
          </p:cNvSpPr>
          <p:nvPr>
            <p:ph type="sldNum" sz="quarter" idx="12"/>
          </p:nvPr>
        </p:nvSpPr>
        <p:spPr/>
        <p:txBody>
          <a:bodyPr/>
          <a:lstStyle/>
          <a:p>
            <a:fld id="{9EBC64C3-3FC7-4C40-910B-2643F037F02C}" type="slidenum">
              <a:rPr lang="en-US" smtClean="0"/>
              <a:t>6</a:t>
            </a:fld>
            <a:endParaRPr lang="en-US" dirty="0"/>
          </a:p>
        </p:txBody>
      </p:sp>
      <p:sp>
        <p:nvSpPr>
          <p:cNvPr id="3" name="Content Placeholder 2">
            <a:extLst>
              <a:ext uri="{FF2B5EF4-FFF2-40B4-BE49-F238E27FC236}">
                <a16:creationId xmlns:a16="http://schemas.microsoft.com/office/drawing/2014/main" id="{8282D32D-55DE-442F-A3B9-4561BBC51D62}"/>
              </a:ext>
            </a:extLst>
          </p:cNvPr>
          <p:cNvSpPr>
            <a:spLocks noGrp="1" noChangeArrowheads="1"/>
          </p:cNvSpPr>
          <p:nvPr>
            <p:ph sz="quarter" idx="1"/>
          </p:nvPr>
        </p:nvSpPr>
        <p:spPr bwMode="auto">
          <a:xfrm>
            <a:off x="152400" y="2228165"/>
            <a:ext cx="8347798" cy="3454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rtl="0">
              <a:buFont typeface="Arial" panose="020B0604020202020204" pitchFamily="34" charset="0"/>
              <a:buChar char="•"/>
            </a:pPr>
            <a:r>
              <a:rPr lang="en-US" sz="1600" b="1" dirty="0">
                <a:latin typeface="+mn-lt"/>
              </a:rPr>
              <a:t>Project Scope:</a:t>
            </a:r>
            <a:endParaRPr lang="en-US" sz="1600" dirty="0">
              <a:latin typeface="+mn-lt"/>
            </a:endParaRPr>
          </a:p>
          <a:p>
            <a:pPr marL="742950" lvl="1" indent="-285750" rtl="0">
              <a:buFont typeface="Arial" panose="020B0604020202020204" pitchFamily="34" charset="0"/>
              <a:buChar char="•"/>
            </a:pPr>
            <a:r>
              <a:rPr lang="en-US" sz="1600" dirty="0">
                <a:latin typeface="+mn-lt"/>
              </a:rPr>
              <a:t>Predict daily HBL stock prices on PSX (Jan 2020–Jul 2025).</a:t>
            </a:r>
          </a:p>
          <a:p>
            <a:pPr marL="742950" lvl="1" indent="-285750" rtl="0">
              <a:buFont typeface="Arial" panose="020B0604020202020204" pitchFamily="34" charset="0"/>
              <a:buChar char="•"/>
            </a:pPr>
            <a:r>
              <a:rPr lang="en-US" sz="1600" dirty="0">
                <a:latin typeface="+mn-lt"/>
              </a:rPr>
              <a:t>Use OHLCV data (</a:t>
            </a:r>
            <a:r>
              <a:rPr lang="en-US" sz="1600" dirty="0" err="1">
                <a:latin typeface="+mn-lt"/>
              </a:rPr>
              <a:t>yfinance</a:t>
            </a:r>
            <a:r>
              <a:rPr lang="en-US" sz="1600" dirty="0">
                <a:latin typeface="+mn-lt"/>
              </a:rPr>
              <a:t>) and sentiment from local news (Dawn, Business Recorder).</a:t>
            </a:r>
          </a:p>
          <a:p>
            <a:pPr marL="742950" lvl="1" indent="-285750" rtl="0">
              <a:buFont typeface="Arial" panose="020B0604020202020204" pitchFamily="34" charset="0"/>
              <a:buChar char="•"/>
            </a:pPr>
            <a:r>
              <a:rPr lang="en-US" sz="1600" dirty="0">
                <a:latin typeface="+mn-lt"/>
              </a:rPr>
              <a:t>Target 85–90% accuracy with RMSE, MAPE, and directional accuracy.</a:t>
            </a:r>
          </a:p>
          <a:p>
            <a:pPr marL="742950" lvl="1" indent="-285750" rtl="0">
              <a:buFont typeface="Arial" panose="020B0604020202020204" pitchFamily="34" charset="0"/>
              <a:buChar char="•"/>
            </a:pPr>
            <a:r>
              <a:rPr lang="en-US" sz="1600" dirty="0">
                <a:latin typeface="+mn-lt"/>
              </a:rPr>
              <a:t>Focus on HBL for manageable complexity; scalable to other PSX stocks and real-time data.</a:t>
            </a:r>
          </a:p>
          <a:p>
            <a:pPr marL="742950" lvl="1" indent="-285750" rtl="0">
              <a:buFont typeface="Arial" panose="020B0604020202020204" pitchFamily="34" charset="0"/>
              <a:buChar char="•"/>
            </a:pPr>
            <a:r>
              <a:rPr lang="en-US" sz="1600" dirty="0">
                <a:latin typeface="+mn-lt"/>
              </a:rPr>
              <a:t>Ensure ethical, transparent sentiment analysis.</a:t>
            </a:r>
          </a:p>
          <a:p>
            <a:pPr rtl="0">
              <a:buFont typeface="Arial" panose="020B0604020202020204" pitchFamily="34" charset="0"/>
              <a:buChar char="•"/>
            </a:pPr>
            <a:endParaRPr lang="en-US" sz="1600" b="1" dirty="0">
              <a:latin typeface="+mn-lt"/>
            </a:endParaRPr>
          </a:p>
          <a:p>
            <a:pPr marL="0" indent="0" rtl="0">
              <a:buNone/>
            </a:pPr>
            <a:r>
              <a:rPr lang="en-US" sz="1600" dirty="0">
                <a:latin typeface="+mn-lt"/>
              </a:rPr>
              <a:t>.</a:t>
            </a:r>
          </a:p>
          <a:p>
            <a:pPr marL="0" indent="0" rtl="0">
              <a:buNone/>
            </a:pPr>
            <a:r>
              <a:rPr lang="en-US" sz="1600" dirty="0">
                <a:latin typeface="+mn-lt"/>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802CE-0868-6324-2D83-906E581BB28D}"/>
            </a:ext>
          </a:extLst>
        </p:cNvPr>
        <p:cNvGrpSpPr/>
        <p:nvPr/>
      </p:nvGrpSpPr>
      <p:grpSpPr>
        <a:xfrm>
          <a:off x="0" y="0"/>
          <a:ext cx="0" cy="0"/>
          <a:chOff x="0" y="0"/>
          <a:chExt cx="0" cy="0"/>
        </a:xfrm>
      </p:grpSpPr>
      <p:sp>
        <p:nvSpPr>
          <p:cNvPr id="1048627" name="Title 1">
            <a:extLst>
              <a:ext uri="{FF2B5EF4-FFF2-40B4-BE49-F238E27FC236}">
                <a16:creationId xmlns:a16="http://schemas.microsoft.com/office/drawing/2014/main" id="{C84A3E3B-D84E-D918-05C7-AD1244955A12}"/>
              </a:ext>
            </a:extLst>
          </p:cNvPr>
          <p:cNvSpPr>
            <a:spLocks noGrp="1"/>
          </p:cNvSpPr>
          <p:nvPr>
            <p:ph type="title"/>
          </p:nvPr>
        </p:nvSpPr>
        <p:spPr/>
        <p:txBody>
          <a:bodyPr>
            <a:normAutofit fontScale="90000"/>
          </a:bodyPr>
          <a:lstStyle/>
          <a:p>
            <a:r>
              <a:rPr lang="en-US" dirty="0">
                <a:solidFill>
                  <a:schemeClr val="dk2"/>
                </a:solidFill>
                <a:latin typeface="Twentieth Century"/>
                <a:ea typeface="Twentieth Century"/>
                <a:cs typeface="Twentieth Century"/>
              </a:rPr>
              <a:t>Comprehensive Literature Review</a:t>
            </a:r>
            <a:endParaRPr lang="en-US" b="1" dirty="0">
              <a:solidFill>
                <a:schemeClr val="dk2"/>
              </a:solidFill>
              <a:latin typeface="Twentieth Century"/>
              <a:ea typeface="Twentieth Century"/>
              <a:cs typeface="Twentieth Century"/>
            </a:endParaRPr>
          </a:p>
        </p:txBody>
      </p:sp>
      <p:sp>
        <p:nvSpPr>
          <p:cNvPr id="1048628" name="Content Placeholder 2">
            <a:extLst>
              <a:ext uri="{FF2B5EF4-FFF2-40B4-BE49-F238E27FC236}">
                <a16:creationId xmlns:a16="http://schemas.microsoft.com/office/drawing/2014/main" id="{991E6893-4CAF-4C5B-594A-24A1B412D169}"/>
              </a:ext>
            </a:extLst>
          </p:cNvPr>
          <p:cNvSpPr>
            <a:spLocks noGrp="1"/>
          </p:cNvSpPr>
          <p:nvPr>
            <p:ph sz="quarter" idx="1"/>
          </p:nvPr>
        </p:nvSpPr>
        <p:spPr>
          <a:xfrm>
            <a:off x="381000" y="1676400"/>
            <a:ext cx="8153400" cy="5451427"/>
          </a:xfrm>
        </p:spPr>
        <p:txBody>
          <a:bodyPr>
            <a:noAutofit/>
          </a:bodyPr>
          <a:lstStyle/>
          <a:p>
            <a:r>
              <a:rPr lang="en-US" sz="1600" b="1" dirty="0">
                <a:latin typeface="+mn-lt"/>
              </a:rPr>
              <a:t>Comprehensive Literature Review</a:t>
            </a:r>
          </a:p>
          <a:p>
            <a:pPr marL="0" indent="0">
              <a:buNone/>
            </a:pPr>
            <a:endParaRPr lang="en-US" sz="1600" b="1" dirty="0">
              <a:latin typeface="+mn-lt"/>
            </a:endParaRPr>
          </a:p>
          <a:p>
            <a:pPr>
              <a:buFont typeface="Arial" panose="020B0604020202020204" pitchFamily="34" charset="0"/>
              <a:buChar char="•"/>
            </a:pPr>
            <a:r>
              <a:rPr lang="en-US" sz="1600" b="1" dirty="0">
                <a:latin typeface="+mn-lt"/>
              </a:rPr>
              <a:t>Traditional Models</a:t>
            </a:r>
            <a:r>
              <a:rPr lang="en-US" sz="1600" dirty="0">
                <a:latin typeface="+mn-lt"/>
              </a:rPr>
              <a:t>: ARIMA, SVMs are limited in handling nonlinearity and market sentiment (Box &amp; Jenkins, 1976; </a:t>
            </a:r>
            <a:r>
              <a:rPr lang="en-US" sz="1600" dirty="0" err="1">
                <a:latin typeface="+mn-lt"/>
              </a:rPr>
              <a:t>Vapnik</a:t>
            </a:r>
            <a:r>
              <a:rPr lang="en-US" sz="1600" dirty="0">
                <a:latin typeface="+mn-lt"/>
              </a:rPr>
              <a:t>, 1995).</a:t>
            </a:r>
          </a:p>
          <a:p>
            <a:pPr marL="0" indent="0">
              <a:buNone/>
            </a:pPr>
            <a:endParaRPr lang="en-US" sz="1600" dirty="0">
              <a:latin typeface="+mn-lt"/>
            </a:endParaRPr>
          </a:p>
          <a:p>
            <a:pPr>
              <a:buFont typeface="Arial" panose="020B0604020202020204" pitchFamily="34" charset="0"/>
              <a:buChar char="•"/>
            </a:pPr>
            <a:r>
              <a:rPr lang="en-US" sz="1600" b="1" dirty="0">
                <a:latin typeface="+mn-lt"/>
              </a:rPr>
              <a:t>Deep Learning</a:t>
            </a:r>
            <a:r>
              <a:rPr lang="en-US" sz="1600" dirty="0">
                <a:latin typeface="+mn-lt"/>
              </a:rPr>
              <a:t>: LSTM networks outperform other models in time-series stock prediction by modeling long-term dependencies (</a:t>
            </a:r>
            <a:r>
              <a:rPr lang="en-US" sz="1600" dirty="0" err="1">
                <a:latin typeface="+mn-lt"/>
              </a:rPr>
              <a:t>Hochreiter</a:t>
            </a:r>
            <a:r>
              <a:rPr lang="en-US" sz="1600" dirty="0">
                <a:latin typeface="+mn-lt"/>
              </a:rPr>
              <a:t> &amp; </a:t>
            </a:r>
            <a:r>
              <a:rPr lang="en-US" sz="1600" dirty="0" err="1">
                <a:latin typeface="+mn-lt"/>
              </a:rPr>
              <a:t>Schmidhuber</a:t>
            </a:r>
            <a:r>
              <a:rPr lang="en-US" sz="1600" dirty="0">
                <a:latin typeface="+mn-lt"/>
              </a:rPr>
              <a:t>, 1997).</a:t>
            </a:r>
          </a:p>
          <a:p>
            <a:pPr marL="0" indent="0">
              <a:buNone/>
            </a:pPr>
            <a:endParaRPr lang="en-US" sz="1600" dirty="0">
              <a:latin typeface="+mn-lt"/>
            </a:endParaRPr>
          </a:p>
          <a:p>
            <a:pPr>
              <a:buFont typeface="Arial" panose="020B0604020202020204" pitchFamily="34" charset="0"/>
              <a:buChar char="•"/>
            </a:pPr>
            <a:r>
              <a:rPr lang="en-US" sz="1600" b="1" dirty="0">
                <a:latin typeface="+mn-lt"/>
              </a:rPr>
              <a:t>Sentiment Integration</a:t>
            </a:r>
            <a:r>
              <a:rPr lang="en-US" sz="1600" dirty="0">
                <a:latin typeface="+mn-lt"/>
              </a:rPr>
              <a:t>: NLP tools like </a:t>
            </a:r>
            <a:r>
              <a:rPr lang="en-US" sz="1600" dirty="0" err="1">
                <a:latin typeface="+mn-lt"/>
              </a:rPr>
              <a:t>FinBERT</a:t>
            </a:r>
            <a:r>
              <a:rPr lang="en-US" sz="1600" dirty="0">
                <a:latin typeface="+mn-lt"/>
              </a:rPr>
              <a:t> and Loughran-McDonald dictionary enhance forecasting by capturing investor sentiment (</a:t>
            </a:r>
            <a:r>
              <a:rPr lang="en-US" sz="1600" dirty="0" err="1">
                <a:latin typeface="+mn-lt"/>
              </a:rPr>
              <a:t>Araci</a:t>
            </a:r>
            <a:r>
              <a:rPr lang="en-US" sz="1600" dirty="0">
                <a:latin typeface="+mn-lt"/>
              </a:rPr>
              <a:t>, 2019; </a:t>
            </a:r>
            <a:r>
              <a:rPr lang="en-US" sz="1600" dirty="0" err="1">
                <a:latin typeface="+mn-lt"/>
              </a:rPr>
              <a:t>Deveikyte</a:t>
            </a:r>
            <a:r>
              <a:rPr lang="en-US" sz="1600" dirty="0">
                <a:latin typeface="+mn-lt"/>
              </a:rPr>
              <a:t> et al., 2022).</a:t>
            </a:r>
          </a:p>
          <a:p>
            <a:pPr>
              <a:buFont typeface="Arial" panose="020B0604020202020204" pitchFamily="34" charset="0"/>
              <a:buChar char="•"/>
            </a:pPr>
            <a:endParaRPr lang="en-US" sz="1600" dirty="0">
              <a:latin typeface="+mn-lt"/>
            </a:endParaRPr>
          </a:p>
          <a:p>
            <a:pPr>
              <a:buFont typeface="Arial" panose="020B0604020202020204" pitchFamily="34" charset="0"/>
              <a:buChar char="•"/>
            </a:pPr>
            <a:r>
              <a:rPr lang="en-US" sz="1600" b="1" dirty="0">
                <a:latin typeface="+mn-lt"/>
              </a:rPr>
              <a:t>Emerging Market Context</a:t>
            </a:r>
            <a:r>
              <a:rPr lang="en-US" sz="1600" dirty="0">
                <a:latin typeface="+mn-lt"/>
              </a:rPr>
              <a:t>: PSX's unique socio-political environment benefits from localized sentiment modeling (Haroon et al., 2023; Khan &amp; Shaikh, 2024).</a:t>
            </a:r>
          </a:p>
          <a:p>
            <a:pPr rtl="0">
              <a:buFont typeface="Arial" panose="020B0604020202020204" pitchFamily="34" charset="0"/>
              <a:buChar char="•"/>
            </a:pPr>
            <a:endParaRPr lang="en-US" sz="1800" dirty="0">
              <a:latin typeface="+mn-lt"/>
            </a:endParaRPr>
          </a:p>
        </p:txBody>
      </p:sp>
      <p:sp>
        <p:nvSpPr>
          <p:cNvPr id="1048629" name="Footer Placeholder 3">
            <a:extLst>
              <a:ext uri="{FF2B5EF4-FFF2-40B4-BE49-F238E27FC236}">
                <a16:creationId xmlns:a16="http://schemas.microsoft.com/office/drawing/2014/main" id="{2080D7FA-C1F9-72E0-E940-0E8C2DABA0FE}"/>
              </a:ext>
            </a:extLst>
          </p:cNvPr>
          <p:cNvSpPr>
            <a:spLocks noGrp="1"/>
          </p:cNvSpPr>
          <p:nvPr>
            <p:ph type="ftr" sz="quarter" idx="11"/>
          </p:nvPr>
        </p:nvSpPr>
        <p:spPr/>
        <p:txBody>
          <a:bodyPr/>
          <a:lstStyle/>
          <a:p>
            <a:r>
              <a:rPr lang="en-US" sz="1400" dirty="0"/>
              <a:t>AI-Driven Stock Market Predictor with  Sentiment Analysis </a:t>
            </a:r>
          </a:p>
        </p:txBody>
      </p:sp>
      <p:sp>
        <p:nvSpPr>
          <p:cNvPr id="1048630" name="Date Placeholder 5">
            <a:extLst>
              <a:ext uri="{FF2B5EF4-FFF2-40B4-BE49-F238E27FC236}">
                <a16:creationId xmlns:a16="http://schemas.microsoft.com/office/drawing/2014/main" id="{8483FBF4-344E-E7F6-63CC-80F34285BD5D}"/>
              </a:ext>
            </a:extLst>
          </p:cNvPr>
          <p:cNvSpPr>
            <a:spLocks noGrp="1"/>
          </p:cNvSpPr>
          <p:nvPr>
            <p:ph type="dt" sz="half" idx="10"/>
          </p:nvPr>
        </p:nvSpPr>
        <p:spPr/>
        <p:txBody>
          <a:bodyPr/>
          <a:lstStyle/>
          <a:p>
            <a:r>
              <a:rPr lang="en-US"/>
              <a:t>CS-FYP    Hamdard University </a:t>
            </a:r>
            <a:endParaRPr lang="en-US" dirty="0"/>
          </a:p>
        </p:txBody>
      </p:sp>
      <p:sp>
        <p:nvSpPr>
          <p:cNvPr id="1048631" name="Slide Number Placeholder 6">
            <a:extLst>
              <a:ext uri="{FF2B5EF4-FFF2-40B4-BE49-F238E27FC236}">
                <a16:creationId xmlns:a16="http://schemas.microsoft.com/office/drawing/2014/main" id="{0009D25F-63B6-81B0-FFC9-C65567C498E5}"/>
              </a:ext>
            </a:extLst>
          </p:cNvPr>
          <p:cNvSpPr>
            <a:spLocks noGrp="1"/>
          </p:cNvSpPr>
          <p:nvPr>
            <p:ph type="sldNum" sz="quarter" idx="12"/>
          </p:nvPr>
        </p:nvSpPr>
        <p:spPr/>
        <p:txBody>
          <a:bodyPr/>
          <a:lstStyle/>
          <a:p>
            <a:fld id="{9EBC64C3-3FC7-4C40-910B-2643F037F02C}" type="slidenum">
              <a:rPr lang="en-US" smtClean="0"/>
              <a:t>7</a:t>
            </a:fld>
            <a:endParaRPr lang="en-US" dirty="0"/>
          </a:p>
        </p:txBody>
      </p:sp>
    </p:spTree>
    <p:extLst>
      <p:ext uri="{BB962C8B-B14F-4D97-AF65-F5344CB8AC3E}">
        <p14:creationId xmlns:p14="http://schemas.microsoft.com/office/powerpoint/2010/main" val="3372957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2" name="Title 1"/>
          <p:cNvSpPr>
            <a:spLocks noGrp="1"/>
          </p:cNvSpPr>
          <p:nvPr>
            <p:ph type="title"/>
          </p:nvPr>
        </p:nvSpPr>
        <p:spPr>
          <a:xfrm>
            <a:off x="533400" y="411162"/>
            <a:ext cx="7616952" cy="990600"/>
          </a:xfrm>
        </p:spPr>
        <p:txBody>
          <a:bodyPr>
            <a:normAutofit/>
          </a:bodyPr>
          <a:lstStyle/>
          <a:p>
            <a:r>
              <a:rPr lang="en-US" b="1" dirty="0">
                <a:solidFill>
                  <a:schemeClr val="dk2"/>
                </a:solidFill>
                <a:latin typeface="Twentieth Century"/>
                <a:ea typeface="Twentieth Century"/>
                <a:cs typeface="Twentieth Century"/>
              </a:rPr>
              <a:t>Architecture</a:t>
            </a:r>
            <a:r>
              <a:rPr lang="en-US" dirty="0">
                <a:solidFill>
                  <a:schemeClr val="dk2"/>
                </a:solidFill>
                <a:latin typeface="Twentieth Century"/>
                <a:ea typeface="Twentieth Century"/>
                <a:cs typeface="Twentieth Century"/>
              </a:rPr>
              <a:t> Big Picture</a:t>
            </a:r>
          </a:p>
        </p:txBody>
      </p:sp>
      <p:sp>
        <p:nvSpPr>
          <p:cNvPr id="1048626" name="Slide Number Placeholder 6"/>
          <p:cNvSpPr>
            <a:spLocks noGrp="1"/>
          </p:cNvSpPr>
          <p:nvPr>
            <p:ph type="sldNum" sz="quarter" idx="12"/>
          </p:nvPr>
        </p:nvSpPr>
        <p:spPr/>
        <p:txBody>
          <a:bodyPr/>
          <a:lstStyle/>
          <a:p>
            <a:fld id="{9EBC64C3-3FC7-4C40-910B-2643F037F02C}" type="slidenum">
              <a:rPr lang="en-US" smtClean="0"/>
              <a:t>8</a:t>
            </a:fld>
            <a:endParaRPr lang="en-US" dirty="0"/>
          </a:p>
        </p:txBody>
      </p:sp>
      <p:pic>
        <p:nvPicPr>
          <p:cNvPr id="6" name="Content Placeholder 5">
            <a:extLst>
              <a:ext uri="{FF2B5EF4-FFF2-40B4-BE49-F238E27FC236}">
                <a16:creationId xmlns:a16="http://schemas.microsoft.com/office/drawing/2014/main" id="{CFE915CF-A427-4838-81DE-AA56F2140CA0}"/>
              </a:ext>
            </a:extLst>
          </p:cNvPr>
          <p:cNvPicPr>
            <a:picLocks noGrp="1" noChangeAspect="1"/>
          </p:cNvPicPr>
          <p:nvPr>
            <p:ph sz="quarter" idx="1"/>
          </p:nvPr>
        </p:nvPicPr>
        <p:blipFill>
          <a:blip r:embed="rId2"/>
          <a:stretch>
            <a:fillRect/>
          </a:stretch>
        </p:blipFill>
        <p:spPr>
          <a:xfrm>
            <a:off x="2971800" y="1709822"/>
            <a:ext cx="3733800" cy="4919578"/>
          </a:xfrm>
        </p:spPr>
      </p:pic>
    </p:spTree>
    <p:extLst>
      <p:ext uri="{BB962C8B-B14F-4D97-AF65-F5344CB8AC3E}">
        <p14:creationId xmlns:p14="http://schemas.microsoft.com/office/powerpoint/2010/main" val="95936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2" name="Title 1"/>
          <p:cNvSpPr>
            <a:spLocks noGrp="1"/>
          </p:cNvSpPr>
          <p:nvPr>
            <p:ph type="title"/>
          </p:nvPr>
        </p:nvSpPr>
        <p:spPr/>
        <p:txBody>
          <a:bodyPr>
            <a:normAutofit/>
          </a:bodyPr>
          <a:lstStyle/>
          <a:p>
            <a:r>
              <a:rPr lang="en-US" dirty="0">
                <a:solidFill>
                  <a:schemeClr val="dk2"/>
                </a:solidFill>
                <a:latin typeface="Twentieth Century"/>
                <a:ea typeface="Twentieth Century"/>
                <a:cs typeface="Twentieth Century"/>
                <a:sym typeface="Twentieth Century"/>
              </a:rPr>
              <a:t>Project </a:t>
            </a:r>
            <a:r>
              <a:rPr lang="en-US" b="1" dirty="0">
                <a:solidFill>
                  <a:schemeClr val="dk2"/>
                </a:solidFill>
                <a:latin typeface="Twentieth Century"/>
                <a:ea typeface="Twentieth Century"/>
                <a:cs typeface="Twentieth Century"/>
                <a:sym typeface="Twentieth Century"/>
              </a:rPr>
              <a:t>Methodology</a:t>
            </a:r>
            <a:r>
              <a:rPr lang="en-US" dirty="0">
                <a:solidFill>
                  <a:schemeClr val="dk2"/>
                </a:solidFill>
                <a:latin typeface="Twentieth Century"/>
                <a:ea typeface="Twentieth Century"/>
                <a:cs typeface="Twentieth Century"/>
                <a:sym typeface="Twentieth Century"/>
              </a:rPr>
              <a:t> </a:t>
            </a:r>
          </a:p>
        </p:txBody>
      </p:sp>
      <p:sp>
        <p:nvSpPr>
          <p:cNvPr id="1048633" name="Content Placeholder 2"/>
          <p:cNvSpPr>
            <a:spLocks noGrp="1"/>
          </p:cNvSpPr>
          <p:nvPr>
            <p:ph sz="quarter" idx="1"/>
          </p:nvPr>
        </p:nvSpPr>
        <p:spPr>
          <a:xfrm>
            <a:off x="609600" y="1898650"/>
            <a:ext cx="8153400" cy="4800600"/>
          </a:xfrm>
        </p:spPr>
        <p:txBody>
          <a:bodyPr>
            <a:normAutofit fontScale="95000"/>
          </a:bodyPr>
          <a:lstStyle/>
          <a:p>
            <a:pPr algn="l"/>
            <a:r>
              <a:rPr lang="en-US" sz="1600" b="1" i="0" dirty="0">
                <a:effectLst/>
                <a:latin typeface="+mn-lt"/>
              </a:rPr>
              <a:t>Research Framework and Methodology</a:t>
            </a:r>
          </a:p>
          <a:p>
            <a:pPr algn="l">
              <a:buFont typeface="Arial" panose="020B0604020202020204" pitchFamily="34" charset="0"/>
              <a:buChar char="•"/>
            </a:pPr>
            <a:r>
              <a:rPr lang="en-US" sz="1600" b="0" i="0" dirty="0">
                <a:effectLst/>
                <a:latin typeface="+mn-lt"/>
              </a:rPr>
              <a:t>Development Framework:</a:t>
            </a:r>
            <a:br>
              <a:rPr lang="en-US" sz="1600" b="0" i="0" dirty="0">
                <a:effectLst/>
                <a:latin typeface="+mn-lt"/>
              </a:rPr>
            </a:br>
            <a:r>
              <a:rPr lang="en-US" sz="1600" b="0" i="0" dirty="0">
                <a:effectLst/>
                <a:latin typeface="+mn-lt"/>
              </a:rPr>
              <a:t>Utilize Agile methodology for iterative and incremental development, promoting adaptability and continuous improvement (Highsmith, 2009).</a:t>
            </a:r>
          </a:p>
          <a:p>
            <a:pPr algn="l">
              <a:buFont typeface="Arial" panose="020B0604020202020204" pitchFamily="34" charset="0"/>
              <a:buChar char="•"/>
            </a:pPr>
            <a:r>
              <a:rPr lang="en-US" sz="1600" b="0" i="0" dirty="0">
                <a:effectLst/>
                <a:latin typeface="+mn-lt"/>
              </a:rPr>
              <a:t>Data Collection:</a:t>
            </a:r>
          </a:p>
          <a:p>
            <a:pPr marL="742950" lvl="1" indent="-285750" algn="l">
              <a:buFont typeface="Arial" panose="020B0604020202020204" pitchFamily="34" charset="0"/>
              <a:buChar char="•"/>
            </a:pPr>
            <a:r>
              <a:rPr lang="en-US" sz="1600" b="0" i="0" dirty="0">
                <a:effectLst/>
                <a:latin typeface="+mn-lt"/>
              </a:rPr>
              <a:t>Stock Data: Acquire OHLCV historical data for HBL from the </a:t>
            </a:r>
            <a:r>
              <a:rPr lang="en-US" sz="1600" b="0" i="0" dirty="0" err="1">
                <a:effectLst/>
                <a:latin typeface="+mn-lt"/>
              </a:rPr>
              <a:t>yfinance</a:t>
            </a:r>
            <a:r>
              <a:rPr lang="en-US" sz="1600" b="0" i="0" dirty="0">
                <a:effectLst/>
                <a:latin typeface="+mn-lt"/>
              </a:rPr>
              <a:t> API.</a:t>
            </a:r>
          </a:p>
          <a:p>
            <a:pPr marL="742950" lvl="1" indent="-285750" algn="l">
              <a:buFont typeface="Arial" panose="020B0604020202020204" pitchFamily="34" charset="0"/>
              <a:buChar char="•"/>
            </a:pPr>
            <a:r>
              <a:rPr lang="en-US" sz="1600" b="0" i="0" dirty="0">
                <a:effectLst/>
                <a:latin typeface="+mn-lt"/>
              </a:rPr>
              <a:t>News Sentiment: Gather financial news via RSS feeds and web scraping from reputable local sources such as </a:t>
            </a:r>
            <a:r>
              <a:rPr lang="en-US" sz="1600" b="0" i="1" dirty="0">
                <a:effectLst/>
                <a:latin typeface="+mn-lt"/>
              </a:rPr>
              <a:t>Dawn</a:t>
            </a:r>
            <a:r>
              <a:rPr lang="en-US" sz="1600" b="0" i="0" dirty="0">
                <a:effectLst/>
                <a:latin typeface="+mn-lt"/>
              </a:rPr>
              <a:t> and </a:t>
            </a:r>
            <a:r>
              <a:rPr lang="en-US" sz="1600" b="0" i="1" dirty="0">
                <a:effectLst/>
                <a:latin typeface="+mn-lt"/>
              </a:rPr>
              <a:t>Business Recorder</a:t>
            </a:r>
            <a:r>
              <a:rPr lang="en-US" sz="1600" b="0" i="0" dirty="0">
                <a:effectLst/>
                <a:latin typeface="+mn-lt"/>
              </a:rPr>
              <a:t>.</a:t>
            </a:r>
          </a:p>
          <a:p>
            <a:pPr algn="l">
              <a:buFont typeface="Arial" panose="020B0604020202020204" pitchFamily="34" charset="0"/>
              <a:buChar char="•"/>
            </a:pPr>
            <a:r>
              <a:rPr lang="en-US" sz="1600" b="0" i="0" dirty="0">
                <a:effectLst/>
                <a:latin typeface="+mn-lt"/>
              </a:rPr>
              <a:t>Sentiment Analysis:</a:t>
            </a:r>
          </a:p>
          <a:p>
            <a:pPr marL="742950" lvl="1" indent="-285750" algn="l">
              <a:buFont typeface="Arial" panose="020B0604020202020204" pitchFamily="34" charset="0"/>
              <a:buChar char="•"/>
            </a:pPr>
            <a:r>
              <a:rPr lang="en-US" sz="1600" b="0" i="0" dirty="0">
                <a:effectLst/>
                <a:latin typeface="+mn-lt"/>
              </a:rPr>
              <a:t>Implement </a:t>
            </a:r>
            <a:r>
              <a:rPr lang="en-US" sz="1600" b="0" i="0" dirty="0" err="1">
                <a:effectLst/>
                <a:latin typeface="+mn-lt"/>
              </a:rPr>
              <a:t>FinBERT</a:t>
            </a:r>
            <a:r>
              <a:rPr lang="en-US" sz="1600" b="0" i="0" dirty="0">
                <a:effectLst/>
                <a:latin typeface="+mn-lt"/>
              </a:rPr>
              <a:t>, a domain-specific transformer-based model, for sentiment classification of financial news texts (</a:t>
            </a:r>
            <a:r>
              <a:rPr lang="en-US" sz="1600" b="0" i="0" dirty="0" err="1">
                <a:effectLst/>
                <a:latin typeface="+mn-lt"/>
              </a:rPr>
              <a:t>Araci</a:t>
            </a:r>
            <a:r>
              <a:rPr lang="en-US" sz="1600" b="0" i="0" dirty="0">
                <a:effectLst/>
                <a:latin typeface="+mn-lt"/>
              </a:rPr>
              <a:t>, 2019).</a:t>
            </a:r>
          </a:p>
          <a:p>
            <a:pPr marL="742950" lvl="1" indent="-285750" algn="l">
              <a:buFont typeface="Arial" panose="020B0604020202020204" pitchFamily="34" charset="0"/>
              <a:buChar char="•"/>
            </a:pPr>
            <a:r>
              <a:rPr lang="en-US" sz="1600" b="0" i="0" dirty="0">
                <a:effectLst/>
                <a:latin typeface="+mn-lt"/>
              </a:rPr>
              <a:t>Complement sentiment scoring with the Loughran-McDonald financial dictionary to enhance domain relevance and accuracy (Loughran &amp; McDonald, 2011).</a:t>
            </a:r>
          </a:p>
          <a:p>
            <a:pPr algn="l">
              <a:buFont typeface="Arial" panose="020B0604020202020204" pitchFamily="34" charset="0"/>
              <a:buChar char="•"/>
            </a:pPr>
            <a:endParaRPr lang="en-US" sz="1600" b="0" i="0" dirty="0">
              <a:effectLst/>
              <a:latin typeface="+mn-lt"/>
            </a:endParaRPr>
          </a:p>
        </p:txBody>
      </p:sp>
      <p:sp>
        <p:nvSpPr>
          <p:cNvPr id="1048634" name="Footer Placeholder 3"/>
          <p:cNvSpPr>
            <a:spLocks noGrp="1"/>
          </p:cNvSpPr>
          <p:nvPr>
            <p:ph type="ftr" sz="quarter" idx="11"/>
          </p:nvPr>
        </p:nvSpPr>
        <p:spPr/>
        <p:txBody>
          <a:bodyPr/>
          <a:lstStyle/>
          <a:p>
            <a:r>
              <a:rPr lang="en-US" sz="1400" dirty="0"/>
              <a:t>AI-Driven Stock Market Predictor with  Sentiment Analysis </a:t>
            </a:r>
          </a:p>
        </p:txBody>
      </p:sp>
      <p:sp>
        <p:nvSpPr>
          <p:cNvPr id="1048635" name="Date Placeholder 5"/>
          <p:cNvSpPr>
            <a:spLocks noGrp="1"/>
          </p:cNvSpPr>
          <p:nvPr>
            <p:ph type="dt" sz="half" idx="10"/>
          </p:nvPr>
        </p:nvSpPr>
        <p:spPr/>
        <p:txBody>
          <a:bodyPr/>
          <a:lstStyle/>
          <a:p>
            <a:r>
              <a:rPr lang="en-US" sz="1200"/>
              <a:t>CS-FYP    Hamdard University </a:t>
            </a:r>
            <a:endParaRPr lang="en-US" sz="1200" dirty="0"/>
          </a:p>
        </p:txBody>
      </p:sp>
      <p:sp>
        <p:nvSpPr>
          <p:cNvPr id="1048636" name="Slide Number Placeholder 6"/>
          <p:cNvSpPr>
            <a:spLocks noGrp="1"/>
          </p:cNvSpPr>
          <p:nvPr>
            <p:ph type="sldNum" sz="quarter" idx="12"/>
          </p:nvPr>
        </p:nvSpPr>
        <p:spPr/>
        <p:txBody>
          <a:bodyPr/>
          <a:lstStyle/>
          <a:p>
            <a:fld id="{9EBC64C3-3FC7-4C40-910B-2643F037F02C}" type="slidenum">
              <a:rPr lang="en-US" smtClean="0"/>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2" name="Title 1"/>
          <p:cNvSpPr>
            <a:spLocks noGrp="1"/>
          </p:cNvSpPr>
          <p:nvPr>
            <p:ph type="title"/>
          </p:nvPr>
        </p:nvSpPr>
        <p:spPr/>
        <p:txBody>
          <a:bodyPr>
            <a:normAutofit/>
          </a:bodyPr>
          <a:lstStyle/>
          <a:p>
            <a:r>
              <a:rPr lang="en-US" dirty="0">
                <a:solidFill>
                  <a:schemeClr val="dk2"/>
                </a:solidFill>
                <a:latin typeface="Twentieth Century"/>
                <a:ea typeface="Twentieth Century"/>
                <a:cs typeface="Twentieth Century"/>
                <a:sym typeface="Twentieth Century"/>
              </a:rPr>
              <a:t>Project </a:t>
            </a:r>
            <a:r>
              <a:rPr lang="en-US" b="1" dirty="0">
                <a:solidFill>
                  <a:schemeClr val="dk2"/>
                </a:solidFill>
                <a:latin typeface="Twentieth Century"/>
                <a:ea typeface="Twentieth Century"/>
                <a:cs typeface="Twentieth Century"/>
                <a:sym typeface="Twentieth Century"/>
              </a:rPr>
              <a:t>Methodology</a:t>
            </a:r>
            <a:r>
              <a:rPr lang="en-US" dirty="0">
                <a:solidFill>
                  <a:schemeClr val="dk2"/>
                </a:solidFill>
                <a:latin typeface="Twentieth Century"/>
                <a:ea typeface="Twentieth Century"/>
                <a:cs typeface="Twentieth Century"/>
                <a:sym typeface="Twentieth Century"/>
              </a:rPr>
              <a:t> </a:t>
            </a:r>
          </a:p>
        </p:txBody>
      </p:sp>
      <p:sp>
        <p:nvSpPr>
          <p:cNvPr id="1048633" name="Content Placeholder 2"/>
          <p:cNvSpPr>
            <a:spLocks noGrp="1"/>
          </p:cNvSpPr>
          <p:nvPr>
            <p:ph sz="quarter" idx="1"/>
          </p:nvPr>
        </p:nvSpPr>
        <p:spPr>
          <a:xfrm>
            <a:off x="495300" y="1752599"/>
            <a:ext cx="8153400" cy="4783137"/>
          </a:xfrm>
        </p:spPr>
        <p:txBody>
          <a:bodyPr>
            <a:normAutofit fontScale="95000"/>
          </a:bodyPr>
          <a:lstStyle/>
          <a:p>
            <a:pPr algn="l">
              <a:buFont typeface="Arial" panose="020B0604020202020204" pitchFamily="34" charset="0"/>
              <a:buChar char="•"/>
            </a:pPr>
            <a:r>
              <a:rPr lang="en-US" sz="1600" b="0" i="0" dirty="0">
                <a:effectLst/>
                <a:latin typeface="+mn-lt"/>
              </a:rPr>
              <a:t>Modeling Approach:</a:t>
            </a:r>
          </a:p>
          <a:p>
            <a:pPr marL="742950" lvl="1" indent="-285750" algn="l">
              <a:buFont typeface="Arial" panose="020B0604020202020204" pitchFamily="34" charset="0"/>
              <a:buChar char="•"/>
            </a:pPr>
            <a:r>
              <a:rPr lang="en-US" sz="1600" b="0" i="0" dirty="0">
                <a:effectLst/>
                <a:latin typeface="+mn-lt"/>
              </a:rPr>
              <a:t>Apply Long Short-Term Memory (LSTM) neural networks combined with an attention mechanism to capture sequential dependencies and focus on critical time-series features relevant to stock price movements (</a:t>
            </a:r>
            <a:r>
              <a:rPr lang="en-US" sz="1600" b="0" i="0" dirty="0" err="1">
                <a:effectLst/>
                <a:latin typeface="+mn-lt"/>
              </a:rPr>
              <a:t>Hochreiter</a:t>
            </a:r>
            <a:r>
              <a:rPr lang="en-US" sz="1600" b="0" i="0" dirty="0">
                <a:effectLst/>
                <a:latin typeface="+mn-lt"/>
              </a:rPr>
              <a:t> &amp; </a:t>
            </a:r>
            <a:r>
              <a:rPr lang="en-US" sz="1600" b="0" i="0" dirty="0" err="1">
                <a:effectLst/>
                <a:latin typeface="+mn-lt"/>
              </a:rPr>
              <a:t>Schmidhuber</a:t>
            </a:r>
            <a:r>
              <a:rPr lang="en-US" sz="1600" b="0" i="0" dirty="0">
                <a:effectLst/>
                <a:latin typeface="+mn-lt"/>
              </a:rPr>
              <a:t>, 1997; Fischer &amp; Krauss, 2018).</a:t>
            </a:r>
          </a:p>
          <a:p>
            <a:pPr algn="l">
              <a:buFont typeface="Arial" panose="020B0604020202020204" pitchFamily="34" charset="0"/>
              <a:buChar char="•"/>
            </a:pPr>
            <a:r>
              <a:rPr lang="en-US" sz="1600" b="0" i="0" dirty="0">
                <a:effectLst/>
                <a:latin typeface="+mn-lt"/>
              </a:rPr>
              <a:t>Evaluation Metrics:</a:t>
            </a:r>
          </a:p>
          <a:p>
            <a:pPr marL="742950" lvl="1" indent="-285750" algn="l">
              <a:buFont typeface="Arial" panose="020B0604020202020204" pitchFamily="34" charset="0"/>
              <a:buChar char="•"/>
            </a:pPr>
            <a:r>
              <a:rPr lang="en-US" sz="1600" b="0" i="0" dirty="0">
                <a:effectLst/>
                <a:latin typeface="+mn-lt"/>
              </a:rPr>
              <a:t>Measure predictive performance using:</a:t>
            </a:r>
          </a:p>
          <a:p>
            <a:pPr marL="1143000" lvl="2" indent="-228600" algn="l">
              <a:buFont typeface="Arial" panose="020B0604020202020204" pitchFamily="34" charset="0"/>
              <a:buChar char="•"/>
            </a:pPr>
            <a:r>
              <a:rPr lang="en-US" sz="1600" b="0" i="0" dirty="0">
                <a:effectLst/>
                <a:latin typeface="+mn-lt"/>
              </a:rPr>
              <a:t>Root Mean Squared Error (RMSE) with target &lt;5%</a:t>
            </a:r>
          </a:p>
          <a:p>
            <a:pPr marL="1143000" lvl="2" indent="-228600" algn="l">
              <a:buFont typeface="Arial" panose="020B0604020202020204" pitchFamily="34" charset="0"/>
              <a:buChar char="•"/>
            </a:pPr>
            <a:r>
              <a:rPr lang="en-US" sz="1600" b="0" i="0" dirty="0">
                <a:effectLst/>
                <a:latin typeface="+mn-lt"/>
              </a:rPr>
              <a:t>Mean Absolute Percentage Error (MAPE) with target &lt;10%</a:t>
            </a:r>
          </a:p>
          <a:p>
            <a:pPr marL="1143000" lvl="2" indent="-228600" algn="l">
              <a:buFont typeface="Arial" panose="020B0604020202020204" pitchFamily="34" charset="0"/>
              <a:buChar char="•"/>
            </a:pPr>
            <a:r>
              <a:rPr lang="en-US" sz="1600" b="0" i="0" dirty="0">
                <a:effectLst/>
                <a:latin typeface="+mn-lt"/>
              </a:rPr>
              <a:t>Directional Accuracy aiming for 85–90%.</a:t>
            </a:r>
          </a:p>
        </p:txBody>
      </p:sp>
      <p:sp>
        <p:nvSpPr>
          <p:cNvPr id="1048634" name="Footer Placeholder 3"/>
          <p:cNvSpPr>
            <a:spLocks noGrp="1"/>
          </p:cNvSpPr>
          <p:nvPr>
            <p:ph type="ftr" sz="quarter" idx="11"/>
          </p:nvPr>
        </p:nvSpPr>
        <p:spPr/>
        <p:txBody>
          <a:bodyPr/>
          <a:lstStyle/>
          <a:p>
            <a:r>
              <a:rPr lang="en-US" sz="1400" dirty="0"/>
              <a:t>AI-Driven Stock Market Predictor with  Sentiment Analysis </a:t>
            </a:r>
          </a:p>
        </p:txBody>
      </p:sp>
      <p:sp>
        <p:nvSpPr>
          <p:cNvPr id="1048635" name="Date Placeholder 5"/>
          <p:cNvSpPr>
            <a:spLocks noGrp="1"/>
          </p:cNvSpPr>
          <p:nvPr>
            <p:ph type="dt" sz="half" idx="10"/>
          </p:nvPr>
        </p:nvSpPr>
        <p:spPr/>
        <p:txBody>
          <a:bodyPr/>
          <a:lstStyle/>
          <a:p>
            <a:r>
              <a:rPr lang="en-US" sz="1200"/>
              <a:t>CS-FYP    Hamdard University </a:t>
            </a:r>
            <a:endParaRPr lang="en-US" sz="1200" dirty="0"/>
          </a:p>
        </p:txBody>
      </p:sp>
      <p:sp>
        <p:nvSpPr>
          <p:cNvPr id="1048636" name="Slide Number Placeholder 6"/>
          <p:cNvSpPr>
            <a:spLocks noGrp="1"/>
          </p:cNvSpPr>
          <p:nvPr>
            <p:ph type="sldNum" sz="quarter" idx="12"/>
          </p:nvPr>
        </p:nvSpPr>
        <p:spPr/>
        <p:txBody>
          <a:bodyPr/>
          <a:lstStyle/>
          <a:p>
            <a:fld id="{9EBC64C3-3FC7-4C40-910B-2643F037F02C}" type="slidenum">
              <a:rPr lang="en-US" smtClean="0"/>
              <a:t>10</a:t>
            </a:fld>
            <a:endParaRPr lang="en-US" dirty="0"/>
          </a:p>
        </p:txBody>
      </p:sp>
    </p:spTree>
    <p:extLst>
      <p:ext uri="{BB962C8B-B14F-4D97-AF65-F5344CB8AC3E}">
        <p14:creationId xmlns:p14="http://schemas.microsoft.com/office/powerpoint/2010/main" val="1617463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7" name="Title 1"/>
          <p:cNvSpPr>
            <a:spLocks noGrp="1"/>
          </p:cNvSpPr>
          <p:nvPr>
            <p:ph type="title"/>
          </p:nvPr>
        </p:nvSpPr>
        <p:spPr>
          <a:xfrm>
            <a:off x="612648" y="210845"/>
            <a:ext cx="7616952" cy="990600"/>
          </a:xfrm>
        </p:spPr>
        <p:txBody>
          <a:bodyPr>
            <a:normAutofit/>
          </a:bodyPr>
          <a:lstStyle/>
          <a:p>
            <a:r>
              <a:rPr lang="en-US" dirty="0">
                <a:solidFill>
                  <a:schemeClr val="dk2"/>
                </a:solidFill>
                <a:latin typeface="Twentieth Century"/>
                <a:ea typeface="Twentieth Century"/>
                <a:cs typeface="Twentieth Century"/>
              </a:rPr>
              <a:t>Project </a:t>
            </a:r>
            <a:r>
              <a:rPr lang="en-US" b="1" dirty="0"/>
              <a:t>Role</a:t>
            </a:r>
            <a:r>
              <a:rPr lang="en-US" dirty="0"/>
              <a:t> &amp; </a:t>
            </a:r>
            <a:r>
              <a:rPr lang="en-US" b="1" dirty="0"/>
              <a:t>Responsibilities</a:t>
            </a:r>
            <a:r>
              <a:rPr lang="en-US" dirty="0"/>
              <a:t> </a:t>
            </a:r>
            <a:endParaRPr lang="en-US" dirty="0">
              <a:solidFill>
                <a:schemeClr val="dk2"/>
              </a:solidFill>
              <a:latin typeface="Twentieth Century"/>
              <a:ea typeface="Twentieth Century"/>
              <a:cs typeface="Twentieth Century"/>
            </a:endParaRPr>
          </a:p>
        </p:txBody>
      </p:sp>
      <p:graphicFrame>
        <p:nvGraphicFramePr>
          <p:cNvPr id="2" name="Content Placeholder 1">
            <a:extLst>
              <a:ext uri="{FF2B5EF4-FFF2-40B4-BE49-F238E27FC236}">
                <a16:creationId xmlns:a16="http://schemas.microsoft.com/office/drawing/2014/main" id="{B6A88FA1-6002-4F40-A44A-EAA1933E34E1}"/>
              </a:ext>
            </a:extLst>
          </p:cNvPr>
          <p:cNvGraphicFramePr>
            <a:graphicFrameLocks noGrp="1"/>
          </p:cNvGraphicFramePr>
          <p:nvPr>
            <p:ph sz="quarter" idx="1"/>
          </p:nvPr>
        </p:nvGraphicFramePr>
        <p:xfrm>
          <a:off x="1980857" y="1593713"/>
          <a:ext cx="5417236" cy="4508774"/>
        </p:xfrm>
        <a:graphic>
          <a:graphicData uri="http://schemas.openxmlformats.org/drawingml/2006/table">
            <a:tbl>
              <a:tblPr/>
              <a:tblGrid>
                <a:gridCol w="1354309">
                  <a:extLst>
                    <a:ext uri="{9D8B030D-6E8A-4147-A177-3AD203B41FA5}">
                      <a16:colId xmlns:a16="http://schemas.microsoft.com/office/drawing/2014/main" val="1856986116"/>
                    </a:ext>
                  </a:extLst>
                </a:gridCol>
                <a:gridCol w="1354309">
                  <a:extLst>
                    <a:ext uri="{9D8B030D-6E8A-4147-A177-3AD203B41FA5}">
                      <a16:colId xmlns:a16="http://schemas.microsoft.com/office/drawing/2014/main" val="914678231"/>
                    </a:ext>
                  </a:extLst>
                </a:gridCol>
                <a:gridCol w="1354309">
                  <a:extLst>
                    <a:ext uri="{9D8B030D-6E8A-4147-A177-3AD203B41FA5}">
                      <a16:colId xmlns:a16="http://schemas.microsoft.com/office/drawing/2014/main" val="2190425379"/>
                    </a:ext>
                  </a:extLst>
                </a:gridCol>
                <a:gridCol w="1354309">
                  <a:extLst>
                    <a:ext uri="{9D8B030D-6E8A-4147-A177-3AD203B41FA5}">
                      <a16:colId xmlns:a16="http://schemas.microsoft.com/office/drawing/2014/main" val="3015112114"/>
                    </a:ext>
                  </a:extLst>
                </a:gridCol>
              </a:tblGrid>
              <a:tr h="243016">
                <a:tc>
                  <a:txBody>
                    <a:bodyPr/>
                    <a:lstStyle/>
                    <a:p>
                      <a:pPr rtl="0"/>
                      <a:r>
                        <a:rPr lang="en-US" sz="1200" b="1"/>
                        <a:t>Task</a:t>
                      </a:r>
                      <a:endParaRPr lang="en-US" sz="1200"/>
                    </a:p>
                  </a:txBody>
                  <a:tcPr marL="60754" marR="60754" marT="30377" marB="30377" anchor="ctr">
                    <a:lnL>
                      <a:noFill/>
                    </a:lnL>
                    <a:lnR>
                      <a:noFill/>
                    </a:lnR>
                    <a:lnT>
                      <a:noFill/>
                    </a:lnT>
                    <a:lnB>
                      <a:noFill/>
                    </a:lnB>
                  </a:tcPr>
                </a:tc>
                <a:tc>
                  <a:txBody>
                    <a:bodyPr/>
                    <a:lstStyle/>
                    <a:p>
                      <a:pPr rtl="0"/>
                      <a:r>
                        <a:rPr lang="en-US" sz="1200" b="1"/>
                        <a:t>Wasif</a:t>
                      </a:r>
                      <a:endParaRPr lang="en-US" sz="1200"/>
                    </a:p>
                  </a:txBody>
                  <a:tcPr marL="60754" marR="60754" marT="30377" marB="30377" anchor="ctr">
                    <a:lnL>
                      <a:noFill/>
                    </a:lnL>
                    <a:lnR>
                      <a:noFill/>
                    </a:lnR>
                    <a:lnT>
                      <a:noFill/>
                    </a:lnT>
                    <a:lnB>
                      <a:noFill/>
                    </a:lnB>
                  </a:tcPr>
                </a:tc>
                <a:tc>
                  <a:txBody>
                    <a:bodyPr/>
                    <a:lstStyle/>
                    <a:p>
                      <a:pPr rtl="0"/>
                      <a:r>
                        <a:rPr lang="en-US" sz="1200" b="1"/>
                        <a:t>Muzammil</a:t>
                      </a:r>
                      <a:endParaRPr lang="en-US" sz="1200"/>
                    </a:p>
                  </a:txBody>
                  <a:tcPr marL="60754" marR="60754" marT="30377" marB="30377" anchor="ctr">
                    <a:lnL>
                      <a:noFill/>
                    </a:lnL>
                    <a:lnR>
                      <a:noFill/>
                    </a:lnR>
                    <a:lnT>
                      <a:noFill/>
                    </a:lnT>
                    <a:lnB>
                      <a:noFill/>
                    </a:lnB>
                  </a:tcPr>
                </a:tc>
                <a:tc>
                  <a:txBody>
                    <a:bodyPr/>
                    <a:lstStyle/>
                    <a:p>
                      <a:pPr rtl="0"/>
                      <a:r>
                        <a:rPr lang="en-US" sz="1200" b="1"/>
                        <a:t>Ghufran</a:t>
                      </a:r>
                      <a:endParaRPr lang="en-US" sz="1200"/>
                    </a:p>
                  </a:txBody>
                  <a:tcPr marL="60754" marR="60754" marT="30377" marB="30377" anchor="ctr">
                    <a:lnL>
                      <a:noFill/>
                    </a:lnL>
                    <a:lnR>
                      <a:noFill/>
                    </a:lnR>
                    <a:lnT>
                      <a:noFill/>
                    </a:lnT>
                    <a:lnB>
                      <a:noFill/>
                    </a:lnB>
                  </a:tcPr>
                </a:tc>
                <a:extLst>
                  <a:ext uri="{0D108BD9-81ED-4DB2-BD59-A6C34878D82A}">
                    <a16:rowId xmlns:a16="http://schemas.microsoft.com/office/drawing/2014/main" val="1170971744"/>
                  </a:ext>
                </a:extLst>
              </a:tr>
              <a:tr h="425278">
                <a:tc>
                  <a:txBody>
                    <a:bodyPr/>
                    <a:lstStyle/>
                    <a:p>
                      <a:pPr rtl="0"/>
                      <a:r>
                        <a:rPr lang="en-US" sz="1200"/>
                        <a:t>Financial Data Collection</a:t>
                      </a:r>
                    </a:p>
                  </a:txBody>
                  <a:tcPr marL="60754" marR="60754" marT="30377" marB="30377" anchor="ctr">
                    <a:lnL>
                      <a:noFill/>
                    </a:lnL>
                    <a:lnR>
                      <a:noFill/>
                    </a:lnR>
                    <a:lnT>
                      <a:noFill/>
                    </a:lnT>
                    <a:lnB>
                      <a:noFill/>
                    </a:lnB>
                  </a:tcPr>
                </a:tc>
                <a:tc>
                  <a:txBody>
                    <a:bodyPr/>
                    <a:lstStyle/>
                    <a:p>
                      <a:pPr rtl="0"/>
                      <a:r>
                        <a:rPr lang="en-US" sz="1200"/>
                        <a:t>A</a:t>
                      </a:r>
                    </a:p>
                  </a:txBody>
                  <a:tcPr marL="60754" marR="60754" marT="30377" marB="30377" anchor="ctr">
                    <a:lnL>
                      <a:noFill/>
                    </a:lnL>
                    <a:lnR>
                      <a:noFill/>
                    </a:lnR>
                    <a:lnT>
                      <a:noFill/>
                    </a:lnT>
                    <a:lnB>
                      <a:noFill/>
                    </a:lnB>
                  </a:tcPr>
                </a:tc>
                <a:tc>
                  <a:txBody>
                    <a:bodyPr/>
                    <a:lstStyle/>
                    <a:p>
                      <a:pPr rtl="0"/>
                      <a:r>
                        <a:rPr lang="en-US" sz="1200"/>
                        <a:t>C</a:t>
                      </a:r>
                    </a:p>
                  </a:txBody>
                  <a:tcPr marL="60754" marR="60754" marT="30377" marB="30377" anchor="ctr">
                    <a:lnL>
                      <a:noFill/>
                    </a:lnL>
                    <a:lnR>
                      <a:noFill/>
                    </a:lnR>
                    <a:lnT>
                      <a:noFill/>
                    </a:lnT>
                    <a:lnB>
                      <a:noFill/>
                    </a:lnB>
                  </a:tcPr>
                </a:tc>
                <a:tc>
                  <a:txBody>
                    <a:bodyPr/>
                    <a:lstStyle/>
                    <a:p>
                      <a:pPr rtl="0"/>
                      <a:r>
                        <a:rPr lang="en-US" sz="1200"/>
                        <a:t>R</a:t>
                      </a:r>
                    </a:p>
                  </a:txBody>
                  <a:tcPr marL="60754" marR="60754" marT="30377" marB="30377" anchor="ctr">
                    <a:lnL>
                      <a:noFill/>
                    </a:lnL>
                    <a:lnR>
                      <a:noFill/>
                    </a:lnR>
                    <a:lnT>
                      <a:noFill/>
                    </a:lnT>
                    <a:lnB>
                      <a:noFill/>
                    </a:lnB>
                  </a:tcPr>
                </a:tc>
                <a:extLst>
                  <a:ext uri="{0D108BD9-81ED-4DB2-BD59-A6C34878D82A}">
                    <a16:rowId xmlns:a16="http://schemas.microsoft.com/office/drawing/2014/main" val="1541630091"/>
                  </a:ext>
                </a:extLst>
              </a:tr>
              <a:tr h="425278">
                <a:tc>
                  <a:txBody>
                    <a:bodyPr/>
                    <a:lstStyle/>
                    <a:p>
                      <a:pPr rtl="0"/>
                      <a:r>
                        <a:rPr lang="en-US" sz="1200"/>
                        <a:t>Sentiment Data Collection</a:t>
                      </a:r>
                    </a:p>
                  </a:txBody>
                  <a:tcPr marL="60754" marR="60754" marT="30377" marB="30377" anchor="ctr">
                    <a:lnL>
                      <a:noFill/>
                    </a:lnL>
                    <a:lnR>
                      <a:noFill/>
                    </a:lnR>
                    <a:lnT>
                      <a:noFill/>
                    </a:lnT>
                    <a:lnB>
                      <a:noFill/>
                    </a:lnB>
                  </a:tcPr>
                </a:tc>
                <a:tc>
                  <a:txBody>
                    <a:bodyPr/>
                    <a:lstStyle/>
                    <a:p>
                      <a:pPr rtl="0"/>
                      <a:r>
                        <a:rPr lang="en-US" sz="1200"/>
                        <a:t>A</a:t>
                      </a:r>
                    </a:p>
                  </a:txBody>
                  <a:tcPr marL="60754" marR="60754" marT="30377" marB="30377" anchor="ctr">
                    <a:lnL>
                      <a:noFill/>
                    </a:lnL>
                    <a:lnR>
                      <a:noFill/>
                    </a:lnR>
                    <a:lnT>
                      <a:noFill/>
                    </a:lnT>
                    <a:lnB>
                      <a:noFill/>
                    </a:lnB>
                  </a:tcPr>
                </a:tc>
                <a:tc>
                  <a:txBody>
                    <a:bodyPr/>
                    <a:lstStyle/>
                    <a:p>
                      <a:pPr rtl="0"/>
                      <a:r>
                        <a:rPr lang="en-US" sz="1200"/>
                        <a:t>R</a:t>
                      </a:r>
                    </a:p>
                  </a:txBody>
                  <a:tcPr marL="60754" marR="60754" marT="30377" marB="30377" anchor="ctr">
                    <a:lnL>
                      <a:noFill/>
                    </a:lnL>
                    <a:lnR>
                      <a:noFill/>
                    </a:lnR>
                    <a:lnT>
                      <a:noFill/>
                    </a:lnT>
                    <a:lnB>
                      <a:noFill/>
                    </a:lnB>
                  </a:tcPr>
                </a:tc>
                <a:tc>
                  <a:txBody>
                    <a:bodyPr/>
                    <a:lstStyle/>
                    <a:p>
                      <a:pPr rtl="0"/>
                      <a:r>
                        <a:rPr lang="en-US" sz="1200"/>
                        <a:t>C</a:t>
                      </a:r>
                    </a:p>
                  </a:txBody>
                  <a:tcPr marL="60754" marR="60754" marT="30377" marB="30377" anchor="ctr">
                    <a:lnL>
                      <a:noFill/>
                    </a:lnL>
                    <a:lnR>
                      <a:noFill/>
                    </a:lnR>
                    <a:lnT>
                      <a:noFill/>
                    </a:lnT>
                    <a:lnB>
                      <a:noFill/>
                    </a:lnB>
                  </a:tcPr>
                </a:tc>
                <a:extLst>
                  <a:ext uri="{0D108BD9-81ED-4DB2-BD59-A6C34878D82A}">
                    <a16:rowId xmlns:a16="http://schemas.microsoft.com/office/drawing/2014/main" val="3071168978"/>
                  </a:ext>
                </a:extLst>
              </a:tr>
              <a:tr h="425278">
                <a:tc>
                  <a:txBody>
                    <a:bodyPr/>
                    <a:lstStyle/>
                    <a:p>
                      <a:pPr rtl="0"/>
                      <a:r>
                        <a:rPr lang="en-US" sz="1200" dirty="0"/>
                        <a:t>Data Preprocessing &amp; Cleaning</a:t>
                      </a:r>
                    </a:p>
                  </a:txBody>
                  <a:tcPr marL="60754" marR="60754" marT="30377" marB="30377" anchor="ctr">
                    <a:lnL>
                      <a:noFill/>
                    </a:lnL>
                    <a:lnR>
                      <a:noFill/>
                    </a:lnR>
                    <a:lnT>
                      <a:noFill/>
                    </a:lnT>
                    <a:lnB>
                      <a:noFill/>
                    </a:lnB>
                  </a:tcPr>
                </a:tc>
                <a:tc>
                  <a:txBody>
                    <a:bodyPr/>
                    <a:lstStyle/>
                    <a:p>
                      <a:pPr rtl="0"/>
                      <a:r>
                        <a:rPr lang="en-US" sz="1200"/>
                        <a:t>A</a:t>
                      </a:r>
                    </a:p>
                  </a:txBody>
                  <a:tcPr marL="60754" marR="60754" marT="30377" marB="30377" anchor="ctr">
                    <a:lnL>
                      <a:noFill/>
                    </a:lnL>
                    <a:lnR>
                      <a:noFill/>
                    </a:lnR>
                    <a:lnT>
                      <a:noFill/>
                    </a:lnT>
                    <a:lnB>
                      <a:noFill/>
                    </a:lnB>
                  </a:tcPr>
                </a:tc>
                <a:tc>
                  <a:txBody>
                    <a:bodyPr/>
                    <a:lstStyle/>
                    <a:p>
                      <a:pPr rtl="0"/>
                      <a:r>
                        <a:rPr lang="en-US" sz="1200"/>
                        <a:t>R</a:t>
                      </a:r>
                    </a:p>
                  </a:txBody>
                  <a:tcPr marL="60754" marR="60754" marT="30377" marB="30377" anchor="ctr">
                    <a:lnL>
                      <a:noFill/>
                    </a:lnL>
                    <a:lnR>
                      <a:noFill/>
                    </a:lnR>
                    <a:lnT>
                      <a:noFill/>
                    </a:lnT>
                    <a:lnB>
                      <a:noFill/>
                    </a:lnB>
                  </a:tcPr>
                </a:tc>
                <a:tc>
                  <a:txBody>
                    <a:bodyPr/>
                    <a:lstStyle/>
                    <a:p>
                      <a:pPr rtl="0"/>
                      <a:r>
                        <a:rPr lang="en-US" sz="1200"/>
                        <a:t>C</a:t>
                      </a:r>
                    </a:p>
                  </a:txBody>
                  <a:tcPr marL="60754" marR="60754" marT="30377" marB="30377" anchor="ctr">
                    <a:lnL>
                      <a:noFill/>
                    </a:lnL>
                    <a:lnR>
                      <a:noFill/>
                    </a:lnR>
                    <a:lnT>
                      <a:noFill/>
                    </a:lnT>
                    <a:lnB>
                      <a:noFill/>
                    </a:lnB>
                  </a:tcPr>
                </a:tc>
                <a:extLst>
                  <a:ext uri="{0D108BD9-81ED-4DB2-BD59-A6C34878D82A}">
                    <a16:rowId xmlns:a16="http://schemas.microsoft.com/office/drawing/2014/main" val="25072791"/>
                  </a:ext>
                </a:extLst>
              </a:tr>
              <a:tr h="425278">
                <a:tc>
                  <a:txBody>
                    <a:bodyPr/>
                    <a:lstStyle/>
                    <a:p>
                      <a:pPr rtl="0"/>
                      <a:r>
                        <a:rPr lang="en-US" sz="1200"/>
                        <a:t>Sentiment Analysis Module</a:t>
                      </a:r>
                    </a:p>
                  </a:txBody>
                  <a:tcPr marL="60754" marR="60754" marT="30377" marB="30377" anchor="ctr">
                    <a:lnL>
                      <a:noFill/>
                    </a:lnL>
                    <a:lnR>
                      <a:noFill/>
                    </a:lnR>
                    <a:lnT>
                      <a:noFill/>
                    </a:lnT>
                    <a:lnB>
                      <a:noFill/>
                    </a:lnB>
                  </a:tcPr>
                </a:tc>
                <a:tc>
                  <a:txBody>
                    <a:bodyPr/>
                    <a:lstStyle/>
                    <a:p>
                      <a:pPr rtl="0"/>
                      <a:r>
                        <a:rPr lang="en-US" sz="1200"/>
                        <a:t>R</a:t>
                      </a:r>
                    </a:p>
                  </a:txBody>
                  <a:tcPr marL="60754" marR="60754" marT="30377" marB="30377" anchor="ctr">
                    <a:lnL>
                      <a:noFill/>
                    </a:lnL>
                    <a:lnR>
                      <a:noFill/>
                    </a:lnR>
                    <a:lnT>
                      <a:noFill/>
                    </a:lnT>
                    <a:lnB>
                      <a:noFill/>
                    </a:lnB>
                  </a:tcPr>
                </a:tc>
                <a:tc>
                  <a:txBody>
                    <a:bodyPr/>
                    <a:lstStyle/>
                    <a:p>
                      <a:pPr rtl="0"/>
                      <a:r>
                        <a:rPr lang="en-US" sz="1200"/>
                        <a:t>C</a:t>
                      </a:r>
                    </a:p>
                  </a:txBody>
                  <a:tcPr marL="60754" marR="60754" marT="30377" marB="30377" anchor="ctr">
                    <a:lnL>
                      <a:noFill/>
                    </a:lnL>
                    <a:lnR>
                      <a:noFill/>
                    </a:lnR>
                    <a:lnT>
                      <a:noFill/>
                    </a:lnT>
                    <a:lnB>
                      <a:noFill/>
                    </a:lnB>
                  </a:tcPr>
                </a:tc>
                <a:tc>
                  <a:txBody>
                    <a:bodyPr/>
                    <a:lstStyle/>
                    <a:p>
                      <a:pPr rtl="0"/>
                      <a:r>
                        <a:rPr lang="en-US" sz="1200"/>
                        <a:t>A</a:t>
                      </a:r>
                    </a:p>
                  </a:txBody>
                  <a:tcPr marL="60754" marR="60754" marT="30377" marB="30377" anchor="ctr">
                    <a:lnL>
                      <a:noFill/>
                    </a:lnL>
                    <a:lnR>
                      <a:noFill/>
                    </a:lnR>
                    <a:lnT>
                      <a:noFill/>
                    </a:lnT>
                    <a:lnB>
                      <a:noFill/>
                    </a:lnB>
                  </a:tcPr>
                </a:tc>
                <a:extLst>
                  <a:ext uri="{0D108BD9-81ED-4DB2-BD59-A6C34878D82A}">
                    <a16:rowId xmlns:a16="http://schemas.microsoft.com/office/drawing/2014/main" val="3242500634"/>
                  </a:ext>
                </a:extLst>
              </a:tr>
              <a:tr h="425278">
                <a:tc>
                  <a:txBody>
                    <a:bodyPr/>
                    <a:lstStyle/>
                    <a:p>
                      <a:pPr rtl="0"/>
                      <a:r>
                        <a:rPr lang="en-US" sz="1200"/>
                        <a:t>Stock Prediction Model</a:t>
                      </a:r>
                    </a:p>
                  </a:txBody>
                  <a:tcPr marL="60754" marR="60754" marT="30377" marB="30377" anchor="ctr">
                    <a:lnL>
                      <a:noFill/>
                    </a:lnL>
                    <a:lnR>
                      <a:noFill/>
                    </a:lnR>
                    <a:lnT>
                      <a:noFill/>
                    </a:lnT>
                    <a:lnB>
                      <a:noFill/>
                    </a:lnB>
                  </a:tcPr>
                </a:tc>
                <a:tc>
                  <a:txBody>
                    <a:bodyPr/>
                    <a:lstStyle/>
                    <a:p>
                      <a:pPr rtl="0"/>
                      <a:r>
                        <a:rPr lang="en-US" sz="1200"/>
                        <a:t>R</a:t>
                      </a:r>
                    </a:p>
                  </a:txBody>
                  <a:tcPr marL="60754" marR="60754" marT="30377" marB="30377" anchor="ctr">
                    <a:lnL>
                      <a:noFill/>
                    </a:lnL>
                    <a:lnR>
                      <a:noFill/>
                    </a:lnR>
                    <a:lnT>
                      <a:noFill/>
                    </a:lnT>
                    <a:lnB>
                      <a:noFill/>
                    </a:lnB>
                  </a:tcPr>
                </a:tc>
                <a:tc>
                  <a:txBody>
                    <a:bodyPr/>
                    <a:lstStyle/>
                    <a:p>
                      <a:pPr rtl="0"/>
                      <a:r>
                        <a:rPr lang="en-US" sz="1200"/>
                        <a:t>A</a:t>
                      </a:r>
                    </a:p>
                  </a:txBody>
                  <a:tcPr marL="60754" marR="60754" marT="30377" marB="30377" anchor="ctr">
                    <a:lnL>
                      <a:noFill/>
                    </a:lnL>
                    <a:lnR>
                      <a:noFill/>
                    </a:lnR>
                    <a:lnT>
                      <a:noFill/>
                    </a:lnT>
                    <a:lnB>
                      <a:noFill/>
                    </a:lnB>
                  </a:tcPr>
                </a:tc>
                <a:tc>
                  <a:txBody>
                    <a:bodyPr/>
                    <a:lstStyle/>
                    <a:p>
                      <a:pPr rtl="0"/>
                      <a:r>
                        <a:rPr lang="en-US" sz="1200"/>
                        <a:t>C</a:t>
                      </a:r>
                    </a:p>
                  </a:txBody>
                  <a:tcPr marL="60754" marR="60754" marT="30377" marB="30377" anchor="ctr">
                    <a:lnL>
                      <a:noFill/>
                    </a:lnL>
                    <a:lnR>
                      <a:noFill/>
                    </a:lnR>
                    <a:lnT>
                      <a:noFill/>
                    </a:lnT>
                    <a:lnB>
                      <a:noFill/>
                    </a:lnB>
                  </a:tcPr>
                </a:tc>
                <a:extLst>
                  <a:ext uri="{0D108BD9-81ED-4DB2-BD59-A6C34878D82A}">
                    <a16:rowId xmlns:a16="http://schemas.microsoft.com/office/drawing/2014/main" val="685724368"/>
                  </a:ext>
                </a:extLst>
              </a:tr>
              <a:tr h="425278">
                <a:tc>
                  <a:txBody>
                    <a:bodyPr/>
                    <a:lstStyle/>
                    <a:p>
                      <a:pPr rtl="0"/>
                      <a:r>
                        <a:rPr lang="en-US" sz="1200"/>
                        <a:t>Model Evaluation &amp; Testing</a:t>
                      </a:r>
                    </a:p>
                  </a:txBody>
                  <a:tcPr marL="60754" marR="60754" marT="30377" marB="30377" anchor="ctr">
                    <a:lnL>
                      <a:noFill/>
                    </a:lnL>
                    <a:lnR>
                      <a:noFill/>
                    </a:lnR>
                    <a:lnT>
                      <a:noFill/>
                    </a:lnT>
                    <a:lnB>
                      <a:noFill/>
                    </a:lnB>
                  </a:tcPr>
                </a:tc>
                <a:tc>
                  <a:txBody>
                    <a:bodyPr/>
                    <a:lstStyle/>
                    <a:p>
                      <a:pPr rtl="0"/>
                      <a:r>
                        <a:rPr lang="en-US" sz="1200"/>
                        <a:t>R</a:t>
                      </a:r>
                    </a:p>
                  </a:txBody>
                  <a:tcPr marL="60754" marR="60754" marT="30377" marB="30377" anchor="ctr">
                    <a:lnL>
                      <a:noFill/>
                    </a:lnL>
                    <a:lnR>
                      <a:noFill/>
                    </a:lnR>
                    <a:lnT>
                      <a:noFill/>
                    </a:lnT>
                    <a:lnB>
                      <a:noFill/>
                    </a:lnB>
                  </a:tcPr>
                </a:tc>
                <a:tc>
                  <a:txBody>
                    <a:bodyPr/>
                    <a:lstStyle/>
                    <a:p>
                      <a:pPr rtl="0"/>
                      <a:r>
                        <a:rPr lang="en-US" sz="1200"/>
                        <a:t>A</a:t>
                      </a:r>
                    </a:p>
                  </a:txBody>
                  <a:tcPr marL="60754" marR="60754" marT="30377" marB="30377" anchor="ctr">
                    <a:lnL>
                      <a:noFill/>
                    </a:lnL>
                    <a:lnR>
                      <a:noFill/>
                    </a:lnR>
                    <a:lnT>
                      <a:noFill/>
                    </a:lnT>
                    <a:lnB>
                      <a:noFill/>
                    </a:lnB>
                  </a:tcPr>
                </a:tc>
                <a:tc>
                  <a:txBody>
                    <a:bodyPr/>
                    <a:lstStyle/>
                    <a:p>
                      <a:pPr rtl="0"/>
                      <a:r>
                        <a:rPr lang="en-US" sz="1200"/>
                        <a:t>C</a:t>
                      </a:r>
                    </a:p>
                  </a:txBody>
                  <a:tcPr marL="60754" marR="60754" marT="30377" marB="30377" anchor="ctr">
                    <a:lnL>
                      <a:noFill/>
                    </a:lnL>
                    <a:lnR>
                      <a:noFill/>
                    </a:lnR>
                    <a:lnT>
                      <a:noFill/>
                    </a:lnT>
                    <a:lnB>
                      <a:noFill/>
                    </a:lnB>
                  </a:tcPr>
                </a:tc>
                <a:extLst>
                  <a:ext uri="{0D108BD9-81ED-4DB2-BD59-A6C34878D82A}">
                    <a16:rowId xmlns:a16="http://schemas.microsoft.com/office/drawing/2014/main" val="1350923886"/>
                  </a:ext>
                </a:extLst>
              </a:tr>
              <a:tr h="425278">
                <a:tc>
                  <a:txBody>
                    <a:bodyPr/>
                    <a:lstStyle/>
                    <a:p>
                      <a:pPr rtl="0"/>
                      <a:r>
                        <a:rPr lang="en-US" sz="1200"/>
                        <a:t>Visualization &amp; Dashboard</a:t>
                      </a:r>
                    </a:p>
                  </a:txBody>
                  <a:tcPr marL="60754" marR="60754" marT="30377" marB="30377" anchor="ctr">
                    <a:lnL>
                      <a:noFill/>
                    </a:lnL>
                    <a:lnR>
                      <a:noFill/>
                    </a:lnR>
                    <a:lnT>
                      <a:noFill/>
                    </a:lnT>
                    <a:lnB>
                      <a:noFill/>
                    </a:lnB>
                  </a:tcPr>
                </a:tc>
                <a:tc>
                  <a:txBody>
                    <a:bodyPr/>
                    <a:lstStyle/>
                    <a:p>
                      <a:pPr rtl="0"/>
                      <a:r>
                        <a:rPr lang="en-US" sz="1200"/>
                        <a:t>R</a:t>
                      </a:r>
                    </a:p>
                  </a:txBody>
                  <a:tcPr marL="60754" marR="60754" marT="30377" marB="30377" anchor="ctr">
                    <a:lnL>
                      <a:noFill/>
                    </a:lnL>
                    <a:lnR>
                      <a:noFill/>
                    </a:lnR>
                    <a:lnT>
                      <a:noFill/>
                    </a:lnT>
                    <a:lnB>
                      <a:noFill/>
                    </a:lnB>
                  </a:tcPr>
                </a:tc>
                <a:tc>
                  <a:txBody>
                    <a:bodyPr/>
                    <a:lstStyle/>
                    <a:p>
                      <a:pPr rtl="0"/>
                      <a:r>
                        <a:rPr lang="en-US" sz="1200"/>
                        <a:t>C</a:t>
                      </a:r>
                    </a:p>
                  </a:txBody>
                  <a:tcPr marL="60754" marR="60754" marT="30377" marB="30377" anchor="ctr">
                    <a:lnL>
                      <a:noFill/>
                    </a:lnL>
                    <a:lnR>
                      <a:noFill/>
                    </a:lnR>
                    <a:lnT>
                      <a:noFill/>
                    </a:lnT>
                    <a:lnB>
                      <a:noFill/>
                    </a:lnB>
                  </a:tcPr>
                </a:tc>
                <a:tc>
                  <a:txBody>
                    <a:bodyPr/>
                    <a:lstStyle/>
                    <a:p>
                      <a:pPr rtl="0"/>
                      <a:r>
                        <a:rPr lang="en-US" sz="1200" dirty="0"/>
                        <a:t>A</a:t>
                      </a:r>
                    </a:p>
                  </a:txBody>
                  <a:tcPr marL="60754" marR="60754" marT="30377" marB="30377" anchor="ctr">
                    <a:lnL>
                      <a:noFill/>
                    </a:lnL>
                    <a:lnR>
                      <a:noFill/>
                    </a:lnR>
                    <a:lnT>
                      <a:noFill/>
                    </a:lnT>
                    <a:lnB>
                      <a:noFill/>
                    </a:lnB>
                  </a:tcPr>
                </a:tc>
                <a:extLst>
                  <a:ext uri="{0D108BD9-81ED-4DB2-BD59-A6C34878D82A}">
                    <a16:rowId xmlns:a16="http://schemas.microsoft.com/office/drawing/2014/main" val="2696200981"/>
                  </a:ext>
                </a:extLst>
              </a:tr>
              <a:tr h="425278">
                <a:tc>
                  <a:txBody>
                    <a:bodyPr/>
                    <a:lstStyle/>
                    <a:p>
                      <a:pPr rtl="0"/>
                      <a:r>
                        <a:rPr lang="en-US" sz="1200"/>
                        <a:t>Prototype Interface Development</a:t>
                      </a:r>
                    </a:p>
                  </a:txBody>
                  <a:tcPr marL="60754" marR="60754" marT="30377" marB="30377" anchor="ctr">
                    <a:lnL>
                      <a:noFill/>
                    </a:lnL>
                    <a:lnR>
                      <a:noFill/>
                    </a:lnR>
                    <a:lnT>
                      <a:noFill/>
                    </a:lnT>
                    <a:lnB>
                      <a:noFill/>
                    </a:lnB>
                  </a:tcPr>
                </a:tc>
                <a:tc>
                  <a:txBody>
                    <a:bodyPr/>
                    <a:lstStyle/>
                    <a:p>
                      <a:pPr rtl="0"/>
                      <a:r>
                        <a:rPr lang="en-US" sz="1200"/>
                        <a:t>A</a:t>
                      </a:r>
                    </a:p>
                  </a:txBody>
                  <a:tcPr marL="60754" marR="60754" marT="30377" marB="30377" anchor="ctr">
                    <a:lnL>
                      <a:noFill/>
                    </a:lnL>
                    <a:lnR>
                      <a:noFill/>
                    </a:lnR>
                    <a:lnT>
                      <a:noFill/>
                    </a:lnT>
                    <a:lnB>
                      <a:noFill/>
                    </a:lnB>
                  </a:tcPr>
                </a:tc>
                <a:tc>
                  <a:txBody>
                    <a:bodyPr/>
                    <a:lstStyle/>
                    <a:p>
                      <a:pPr rtl="0"/>
                      <a:r>
                        <a:rPr lang="en-US" sz="1200"/>
                        <a:t>R</a:t>
                      </a:r>
                    </a:p>
                  </a:txBody>
                  <a:tcPr marL="60754" marR="60754" marT="30377" marB="30377" anchor="ctr">
                    <a:lnL>
                      <a:noFill/>
                    </a:lnL>
                    <a:lnR>
                      <a:noFill/>
                    </a:lnR>
                    <a:lnT>
                      <a:noFill/>
                    </a:lnT>
                    <a:lnB>
                      <a:noFill/>
                    </a:lnB>
                  </a:tcPr>
                </a:tc>
                <a:tc>
                  <a:txBody>
                    <a:bodyPr/>
                    <a:lstStyle/>
                    <a:p>
                      <a:pPr rtl="0"/>
                      <a:r>
                        <a:rPr lang="en-US" sz="1200"/>
                        <a:t>C</a:t>
                      </a:r>
                    </a:p>
                  </a:txBody>
                  <a:tcPr marL="60754" marR="60754" marT="30377" marB="30377" anchor="ctr">
                    <a:lnL>
                      <a:noFill/>
                    </a:lnL>
                    <a:lnR>
                      <a:noFill/>
                    </a:lnR>
                    <a:lnT>
                      <a:noFill/>
                    </a:lnT>
                    <a:lnB>
                      <a:noFill/>
                    </a:lnB>
                  </a:tcPr>
                </a:tc>
                <a:extLst>
                  <a:ext uri="{0D108BD9-81ED-4DB2-BD59-A6C34878D82A}">
                    <a16:rowId xmlns:a16="http://schemas.microsoft.com/office/drawing/2014/main" val="3884624731"/>
                  </a:ext>
                </a:extLst>
              </a:tr>
              <a:tr h="425278">
                <a:tc>
                  <a:txBody>
                    <a:bodyPr/>
                    <a:lstStyle/>
                    <a:p>
                      <a:pPr rtl="0"/>
                      <a:r>
                        <a:rPr lang="en-US" sz="1200"/>
                        <a:t>Report Writing &amp; Documentation</a:t>
                      </a:r>
                    </a:p>
                  </a:txBody>
                  <a:tcPr marL="60754" marR="60754" marT="30377" marB="30377" anchor="ctr">
                    <a:lnL>
                      <a:noFill/>
                    </a:lnL>
                    <a:lnR>
                      <a:noFill/>
                    </a:lnR>
                    <a:lnT>
                      <a:noFill/>
                    </a:lnT>
                    <a:lnB>
                      <a:noFill/>
                    </a:lnB>
                  </a:tcPr>
                </a:tc>
                <a:tc>
                  <a:txBody>
                    <a:bodyPr/>
                    <a:lstStyle/>
                    <a:p>
                      <a:pPr rtl="0"/>
                      <a:r>
                        <a:rPr lang="en-US" sz="1200"/>
                        <a:t>A</a:t>
                      </a:r>
                    </a:p>
                  </a:txBody>
                  <a:tcPr marL="60754" marR="60754" marT="30377" marB="30377" anchor="ctr">
                    <a:lnL>
                      <a:noFill/>
                    </a:lnL>
                    <a:lnR>
                      <a:noFill/>
                    </a:lnR>
                    <a:lnT>
                      <a:noFill/>
                    </a:lnT>
                    <a:lnB>
                      <a:noFill/>
                    </a:lnB>
                  </a:tcPr>
                </a:tc>
                <a:tc>
                  <a:txBody>
                    <a:bodyPr/>
                    <a:lstStyle/>
                    <a:p>
                      <a:pPr rtl="0"/>
                      <a:r>
                        <a:rPr lang="en-US" sz="1200"/>
                        <a:t>C</a:t>
                      </a:r>
                    </a:p>
                  </a:txBody>
                  <a:tcPr marL="60754" marR="60754" marT="30377" marB="30377" anchor="ctr">
                    <a:lnL>
                      <a:noFill/>
                    </a:lnL>
                    <a:lnR>
                      <a:noFill/>
                    </a:lnR>
                    <a:lnT>
                      <a:noFill/>
                    </a:lnT>
                    <a:lnB>
                      <a:noFill/>
                    </a:lnB>
                  </a:tcPr>
                </a:tc>
                <a:tc>
                  <a:txBody>
                    <a:bodyPr/>
                    <a:lstStyle/>
                    <a:p>
                      <a:pPr rtl="0"/>
                      <a:r>
                        <a:rPr lang="en-US" sz="1200"/>
                        <a:t>R</a:t>
                      </a:r>
                    </a:p>
                  </a:txBody>
                  <a:tcPr marL="60754" marR="60754" marT="30377" marB="30377" anchor="ctr">
                    <a:lnL>
                      <a:noFill/>
                    </a:lnL>
                    <a:lnR>
                      <a:noFill/>
                    </a:lnR>
                    <a:lnT>
                      <a:noFill/>
                    </a:lnT>
                    <a:lnB>
                      <a:noFill/>
                    </a:lnB>
                  </a:tcPr>
                </a:tc>
                <a:extLst>
                  <a:ext uri="{0D108BD9-81ED-4DB2-BD59-A6C34878D82A}">
                    <a16:rowId xmlns:a16="http://schemas.microsoft.com/office/drawing/2014/main" val="1836554145"/>
                  </a:ext>
                </a:extLst>
              </a:tr>
              <a:tr h="425278">
                <a:tc>
                  <a:txBody>
                    <a:bodyPr/>
                    <a:lstStyle/>
                    <a:p>
                      <a:pPr rtl="0"/>
                      <a:r>
                        <a:rPr lang="en-US" sz="1200"/>
                        <a:t>Presentation &amp; Final Review</a:t>
                      </a:r>
                    </a:p>
                  </a:txBody>
                  <a:tcPr marL="60754" marR="60754" marT="30377" marB="30377" anchor="ctr">
                    <a:lnL>
                      <a:noFill/>
                    </a:lnL>
                    <a:lnR>
                      <a:noFill/>
                    </a:lnR>
                    <a:lnT>
                      <a:noFill/>
                    </a:lnT>
                    <a:lnB>
                      <a:noFill/>
                    </a:lnB>
                  </a:tcPr>
                </a:tc>
                <a:tc>
                  <a:txBody>
                    <a:bodyPr/>
                    <a:lstStyle/>
                    <a:p>
                      <a:pPr rtl="0"/>
                      <a:r>
                        <a:rPr lang="en-US" sz="1200"/>
                        <a:t>C</a:t>
                      </a:r>
                    </a:p>
                  </a:txBody>
                  <a:tcPr marL="60754" marR="60754" marT="30377" marB="30377" anchor="ctr">
                    <a:lnL>
                      <a:noFill/>
                    </a:lnL>
                    <a:lnR>
                      <a:noFill/>
                    </a:lnR>
                    <a:lnT>
                      <a:noFill/>
                    </a:lnT>
                    <a:lnB>
                      <a:noFill/>
                    </a:lnB>
                  </a:tcPr>
                </a:tc>
                <a:tc>
                  <a:txBody>
                    <a:bodyPr/>
                    <a:lstStyle/>
                    <a:p>
                      <a:pPr rtl="0"/>
                      <a:r>
                        <a:rPr lang="en-US" sz="1200"/>
                        <a:t>A</a:t>
                      </a:r>
                    </a:p>
                  </a:txBody>
                  <a:tcPr marL="60754" marR="60754" marT="30377" marB="30377" anchor="ctr">
                    <a:lnL>
                      <a:noFill/>
                    </a:lnL>
                    <a:lnR>
                      <a:noFill/>
                    </a:lnR>
                    <a:lnT>
                      <a:noFill/>
                    </a:lnT>
                    <a:lnB>
                      <a:noFill/>
                    </a:lnB>
                  </a:tcPr>
                </a:tc>
                <a:tc>
                  <a:txBody>
                    <a:bodyPr/>
                    <a:lstStyle/>
                    <a:p>
                      <a:pPr rtl="0"/>
                      <a:r>
                        <a:rPr lang="en-US" sz="1200" dirty="0"/>
                        <a:t>R</a:t>
                      </a:r>
                    </a:p>
                  </a:txBody>
                  <a:tcPr marL="60754" marR="60754" marT="30377" marB="30377" anchor="ctr">
                    <a:lnL>
                      <a:noFill/>
                    </a:lnL>
                    <a:lnR>
                      <a:noFill/>
                    </a:lnR>
                    <a:lnT>
                      <a:noFill/>
                    </a:lnT>
                    <a:lnB>
                      <a:noFill/>
                    </a:lnB>
                  </a:tcPr>
                </a:tc>
                <a:extLst>
                  <a:ext uri="{0D108BD9-81ED-4DB2-BD59-A6C34878D82A}">
                    <a16:rowId xmlns:a16="http://schemas.microsoft.com/office/drawing/2014/main" val="2981555805"/>
                  </a:ext>
                </a:extLst>
              </a:tr>
            </a:tbl>
          </a:graphicData>
        </a:graphic>
      </p:graphicFrame>
      <p:sp>
        <p:nvSpPr>
          <p:cNvPr id="1048639" name="Footer Placeholder 3"/>
          <p:cNvSpPr>
            <a:spLocks noGrp="1"/>
          </p:cNvSpPr>
          <p:nvPr>
            <p:ph type="ftr" sz="quarter" idx="11"/>
          </p:nvPr>
        </p:nvSpPr>
        <p:spPr/>
        <p:txBody>
          <a:bodyPr/>
          <a:lstStyle/>
          <a:p>
            <a:r>
              <a:rPr lang="en-US" sz="1400" dirty="0"/>
              <a:t>AI-Driven Stock Market Predictor with  Sentiment Analysis </a:t>
            </a:r>
          </a:p>
        </p:txBody>
      </p:sp>
      <p:sp>
        <p:nvSpPr>
          <p:cNvPr id="1048640" name="Date Placeholder 5"/>
          <p:cNvSpPr>
            <a:spLocks noGrp="1"/>
          </p:cNvSpPr>
          <p:nvPr>
            <p:ph type="dt" sz="half" idx="10"/>
          </p:nvPr>
        </p:nvSpPr>
        <p:spPr/>
        <p:txBody>
          <a:bodyPr/>
          <a:lstStyle/>
          <a:p>
            <a:r>
              <a:rPr lang="en-US" sz="1200" dirty="0"/>
              <a:t>CS-FYP</a:t>
            </a:r>
            <a:r>
              <a:rPr lang="en-US" dirty="0"/>
              <a:t>    </a:t>
            </a:r>
            <a:r>
              <a:rPr lang="en-US" dirty="0" err="1"/>
              <a:t>Hamdard</a:t>
            </a:r>
            <a:r>
              <a:rPr lang="en-US" dirty="0"/>
              <a:t> University </a:t>
            </a:r>
          </a:p>
        </p:txBody>
      </p:sp>
      <p:sp>
        <p:nvSpPr>
          <p:cNvPr id="1048641" name="Slide Number Placeholder 6"/>
          <p:cNvSpPr>
            <a:spLocks noGrp="1"/>
          </p:cNvSpPr>
          <p:nvPr>
            <p:ph type="sldNum" sz="quarter" idx="12"/>
          </p:nvPr>
        </p:nvSpPr>
        <p:spPr/>
        <p:txBody>
          <a:bodyPr/>
          <a:lstStyle/>
          <a:p>
            <a:fld id="{9EBC64C3-3FC7-4C40-910B-2643F037F02C}" type="slidenum">
              <a:rPr lang="en-US" smtClean="0"/>
              <a:t>11</a:t>
            </a:fld>
            <a:endParaRPr lang="en-US" dirty="0"/>
          </a:p>
        </p:txBody>
      </p:sp>
      <p:pic>
        <p:nvPicPr>
          <p:cNvPr id="4" name="Picture 3">
            <a:extLst>
              <a:ext uri="{FF2B5EF4-FFF2-40B4-BE49-F238E27FC236}">
                <a16:creationId xmlns:a16="http://schemas.microsoft.com/office/drawing/2014/main" id="{764AF009-F6FA-47C0-A67F-2F5D544B2337}"/>
              </a:ext>
            </a:extLst>
          </p:cNvPr>
          <p:cNvPicPr>
            <a:picLocks noChangeAspect="1"/>
          </p:cNvPicPr>
          <p:nvPr/>
        </p:nvPicPr>
        <p:blipFill>
          <a:blip r:embed="rId3"/>
          <a:stretch>
            <a:fillRect/>
          </a:stretch>
        </p:blipFill>
        <p:spPr>
          <a:xfrm>
            <a:off x="1639824" y="1587014"/>
            <a:ext cx="5562600" cy="484538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5" name="Title 1"/>
          <p:cNvSpPr>
            <a:spLocks noGrp="1"/>
          </p:cNvSpPr>
          <p:nvPr>
            <p:ph type="title"/>
          </p:nvPr>
        </p:nvSpPr>
        <p:spPr/>
        <p:txBody>
          <a:bodyPr/>
          <a:lstStyle/>
          <a:p>
            <a:r>
              <a:rPr lang="en-US" dirty="0"/>
              <a:t>Project </a:t>
            </a:r>
            <a:r>
              <a:rPr lang="en-US" b="1" dirty="0"/>
              <a:t>Milestones</a:t>
            </a:r>
          </a:p>
        </p:txBody>
      </p:sp>
      <p:sp>
        <p:nvSpPr>
          <p:cNvPr id="1048648" name="Slide Number Placeholder 6"/>
          <p:cNvSpPr>
            <a:spLocks noGrp="1"/>
          </p:cNvSpPr>
          <p:nvPr>
            <p:ph type="sldNum" sz="quarter" idx="16"/>
          </p:nvPr>
        </p:nvSpPr>
        <p:spPr/>
        <p:txBody>
          <a:bodyPr>
            <a:normAutofit fontScale="85000" lnSpcReduction="20000"/>
          </a:bodyPr>
          <a:lstStyle/>
          <a:p>
            <a:fld id="{9EBC64C3-3FC7-4C40-910B-2643F037F02C}" type="slidenum">
              <a:rPr lang="en-US" smtClean="0"/>
              <a:t>12</a:t>
            </a:fld>
            <a:endParaRPr lang="en-US" dirty="0"/>
          </a:p>
        </p:txBody>
      </p:sp>
      <p:sp>
        <p:nvSpPr>
          <p:cNvPr id="1048647" name="Date Placeholder 5"/>
          <p:cNvSpPr>
            <a:spLocks noGrp="1"/>
          </p:cNvSpPr>
          <p:nvPr>
            <p:ph type="dt" sz="half" idx="10"/>
          </p:nvPr>
        </p:nvSpPr>
        <p:spPr/>
        <p:txBody>
          <a:bodyPr/>
          <a:lstStyle/>
          <a:p>
            <a:r>
              <a:rPr lang="en-US" dirty="0"/>
              <a:t>CS-FYP    </a:t>
            </a:r>
            <a:r>
              <a:rPr lang="en-US" dirty="0" err="1"/>
              <a:t>Hamdard</a:t>
            </a:r>
            <a:r>
              <a:rPr lang="en-US" dirty="0"/>
              <a:t> University </a:t>
            </a:r>
          </a:p>
        </p:txBody>
      </p:sp>
      <p:sp>
        <p:nvSpPr>
          <p:cNvPr id="1048646" name="Footer Placeholder 3"/>
          <p:cNvSpPr>
            <a:spLocks noGrp="1"/>
          </p:cNvSpPr>
          <p:nvPr>
            <p:ph type="ftr" sz="quarter" idx="4294967295"/>
          </p:nvPr>
        </p:nvSpPr>
        <p:spPr>
          <a:xfrm>
            <a:off x="609600" y="6432550"/>
            <a:ext cx="5410200" cy="288925"/>
          </a:xfrm>
          <a:solidFill>
            <a:srgbClr val="F86308"/>
          </a:solidFill>
        </p:spPr>
        <p:txBody>
          <a:bodyPr/>
          <a:lstStyle/>
          <a:p>
            <a:r>
              <a:rPr lang="en-US" sz="1400" dirty="0"/>
              <a:t>AI-Driven Stock Market Predictor with  Sentiment Analysis </a:t>
            </a:r>
          </a:p>
        </p:txBody>
      </p:sp>
      <p:sp>
        <p:nvSpPr>
          <p:cNvPr id="3" name="Content Placeholder 2">
            <a:extLst>
              <a:ext uri="{FF2B5EF4-FFF2-40B4-BE49-F238E27FC236}">
                <a16:creationId xmlns:a16="http://schemas.microsoft.com/office/drawing/2014/main" id="{0B381C6C-BF40-422D-95DB-30DDF1A2252A}"/>
              </a:ext>
            </a:extLst>
          </p:cNvPr>
          <p:cNvSpPr>
            <a:spLocks noGrp="1" noChangeArrowheads="1"/>
          </p:cNvSpPr>
          <p:nvPr>
            <p:ph sz="quarter" idx="1"/>
          </p:nvPr>
        </p:nvSpPr>
        <p:spPr bwMode="auto">
          <a:xfrm>
            <a:off x="518327" y="2133600"/>
            <a:ext cx="7924799"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Project Initialization :</a:t>
            </a:r>
            <a:r>
              <a:rPr kumimoji="0" lang="en-US" altLang="en-US" sz="1600" b="0" i="0" u="none" strike="noStrike" cap="none" normalizeH="0" baseline="0" dirty="0">
                <a:ln>
                  <a:noFill/>
                </a:ln>
                <a:solidFill>
                  <a:schemeClr val="tx1"/>
                </a:solidFill>
                <a:effectLst/>
              </a:rPr>
              <a:t> Defined problem statement, research objectives, and team roles. Finalized data sources and began initial literature review.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Data Collection :</a:t>
            </a:r>
            <a:r>
              <a:rPr kumimoji="0" lang="en-US" altLang="en-US" sz="1600" b="0" i="0" u="none" strike="noStrike" cap="none" normalizeH="0" baseline="0" dirty="0">
                <a:ln>
                  <a:noFill/>
                </a:ln>
                <a:solidFill>
                  <a:schemeClr val="tx1"/>
                </a:solidFill>
                <a:effectLst/>
              </a:rPr>
              <a:t> Collected historical OHLCV data for HBL from </a:t>
            </a:r>
            <a:r>
              <a:rPr kumimoji="0" lang="en-US" altLang="en-US" sz="1600" b="0" i="0" u="none" strike="noStrike" cap="none" normalizeH="0" baseline="0" dirty="0" err="1">
                <a:ln>
                  <a:noFill/>
                </a:ln>
                <a:solidFill>
                  <a:schemeClr val="tx1"/>
                </a:solidFill>
                <a:effectLst/>
              </a:rPr>
              <a:t>yfinance</a:t>
            </a:r>
            <a:r>
              <a:rPr kumimoji="0" lang="en-US" altLang="en-US" sz="1600" b="0" i="0" u="none" strike="noStrike" cap="none" normalizeH="0" baseline="0" dirty="0">
                <a:ln>
                  <a:noFill/>
                </a:ln>
                <a:solidFill>
                  <a:schemeClr val="tx1"/>
                </a:solidFill>
                <a:effectLst/>
              </a:rPr>
              <a:t> and gathered financial news articles from Dawn, Business Recorder, and The News.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Data Preprocessing :</a:t>
            </a:r>
            <a:r>
              <a:rPr kumimoji="0" lang="en-US" altLang="en-US" sz="1600" b="0" i="0" u="none" strike="noStrike" cap="none" normalizeH="0" baseline="0" dirty="0">
                <a:ln>
                  <a:noFill/>
                </a:ln>
                <a:solidFill>
                  <a:schemeClr val="tx1"/>
                </a:solidFill>
                <a:effectLst/>
              </a:rPr>
              <a:t> Normalized stock data and cleaned news text using tokenization, lemmatization, and </a:t>
            </a:r>
            <a:r>
              <a:rPr kumimoji="0" lang="en-US" altLang="en-US" sz="1600" b="0" i="0" u="none" strike="noStrike" cap="none" normalizeH="0" baseline="0" dirty="0" err="1">
                <a:ln>
                  <a:noFill/>
                </a:ln>
                <a:solidFill>
                  <a:schemeClr val="tx1"/>
                </a:solidFill>
                <a:effectLst/>
              </a:rPr>
              <a:t>stopword</a:t>
            </a:r>
            <a:r>
              <a:rPr kumimoji="0" lang="en-US" altLang="en-US" sz="1600" b="0" i="0" u="none" strike="noStrike" cap="none" normalizeH="0" baseline="0" dirty="0">
                <a:ln>
                  <a:noFill/>
                </a:ln>
                <a:solidFill>
                  <a:schemeClr val="tx1"/>
                </a:solidFill>
                <a:effectLst/>
              </a:rPr>
              <a:t> removal.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Sentiment Annotation :</a:t>
            </a:r>
            <a:r>
              <a:rPr kumimoji="0" lang="en-US" altLang="en-US" sz="1600" b="0" i="0" u="none" strike="noStrike" cap="none" normalizeH="0" baseline="0" dirty="0">
                <a:ln>
                  <a:noFill/>
                </a:ln>
                <a:solidFill>
                  <a:schemeClr val="tx1"/>
                </a:solidFill>
                <a:effectLst/>
              </a:rPr>
              <a:t> Applied </a:t>
            </a:r>
            <a:r>
              <a:rPr kumimoji="0" lang="en-US" altLang="en-US" sz="1600" b="0" i="0" u="none" strike="noStrike" cap="none" normalizeH="0" baseline="0" dirty="0" err="1">
                <a:ln>
                  <a:noFill/>
                </a:ln>
                <a:solidFill>
                  <a:schemeClr val="tx1"/>
                </a:solidFill>
                <a:effectLst/>
              </a:rPr>
              <a:t>FinBERT</a:t>
            </a:r>
            <a:r>
              <a:rPr kumimoji="0" lang="en-US" altLang="en-US" sz="1600" b="0" i="0" u="none" strike="noStrike" cap="none" normalizeH="0" baseline="0" dirty="0">
                <a:ln>
                  <a:noFill/>
                </a:ln>
                <a:solidFill>
                  <a:schemeClr val="tx1"/>
                </a:solidFill>
                <a:effectLst/>
              </a:rPr>
              <a:t> and Loughran-McDonald Dictionary to assign sentiment scores (positive/neutral/negative) to news articles.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Feature Engineering :</a:t>
            </a:r>
            <a:r>
              <a:rPr kumimoji="0" lang="en-US" altLang="en-US" sz="1600" b="0" i="0" u="none" strike="noStrike" cap="none" normalizeH="0" baseline="0" dirty="0">
                <a:ln>
                  <a:noFill/>
                </a:ln>
                <a:solidFill>
                  <a:schemeClr val="tx1"/>
                </a:solidFill>
                <a:effectLst/>
              </a:rPr>
              <a:t> Merged sentiment scores with stock data by date. Created lag features and structured dataset for model input.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Model Design :</a:t>
            </a:r>
            <a:r>
              <a:rPr kumimoji="0" lang="en-US" altLang="en-US" sz="1600" b="0" i="0" u="none" strike="noStrike" cap="none" normalizeH="0" baseline="0" dirty="0">
                <a:ln>
                  <a:noFill/>
                </a:ln>
                <a:solidFill>
                  <a:schemeClr val="tx1"/>
                </a:solidFill>
                <a:effectLst/>
              </a:rPr>
              <a:t> Designed LSTM model with attention mechanism. Finalized hyperparameters and evaluation metrics.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5" name="Title 1"/>
          <p:cNvSpPr>
            <a:spLocks noGrp="1"/>
          </p:cNvSpPr>
          <p:nvPr>
            <p:ph type="title"/>
          </p:nvPr>
        </p:nvSpPr>
        <p:spPr/>
        <p:txBody>
          <a:bodyPr/>
          <a:lstStyle/>
          <a:p>
            <a:r>
              <a:rPr lang="en-US" dirty="0"/>
              <a:t>Project </a:t>
            </a:r>
            <a:r>
              <a:rPr lang="en-US" b="1" dirty="0"/>
              <a:t>Milestones</a:t>
            </a:r>
          </a:p>
        </p:txBody>
      </p:sp>
      <p:sp>
        <p:nvSpPr>
          <p:cNvPr id="1048648" name="Slide Number Placeholder 6"/>
          <p:cNvSpPr>
            <a:spLocks noGrp="1"/>
          </p:cNvSpPr>
          <p:nvPr>
            <p:ph type="sldNum" sz="quarter" idx="16"/>
          </p:nvPr>
        </p:nvSpPr>
        <p:spPr/>
        <p:txBody>
          <a:bodyPr>
            <a:normAutofit fontScale="85000" lnSpcReduction="20000"/>
          </a:bodyPr>
          <a:lstStyle/>
          <a:p>
            <a:fld id="{9EBC64C3-3FC7-4C40-910B-2643F037F02C}" type="slidenum">
              <a:rPr lang="en-US" smtClean="0"/>
              <a:t>13</a:t>
            </a:fld>
            <a:endParaRPr lang="en-US" dirty="0"/>
          </a:p>
        </p:txBody>
      </p:sp>
      <p:sp>
        <p:nvSpPr>
          <p:cNvPr id="1048647" name="Date Placeholder 5"/>
          <p:cNvSpPr>
            <a:spLocks noGrp="1"/>
          </p:cNvSpPr>
          <p:nvPr>
            <p:ph type="dt" sz="half" idx="10"/>
          </p:nvPr>
        </p:nvSpPr>
        <p:spPr/>
        <p:txBody>
          <a:bodyPr/>
          <a:lstStyle/>
          <a:p>
            <a:r>
              <a:rPr lang="en-US" dirty="0"/>
              <a:t>CS-FYP    </a:t>
            </a:r>
            <a:r>
              <a:rPr lang="en-US" dirty="0" err="1"/>
              <a:t>Hamdard</a:t>
            </a:r>
            <a:r>
              <a:rPr lang="en-US" dirty="0"/>
              <a:t> University </a:t>
            </a:r>
          </a:p>
        </p:txBody>
      </p:sp>
      <p:sp>
        <p:nvSpPr>
          <p:cNvPr id="1048646" name="Footer Placeholder 3"/>
          <p:cNvSpPr>
            <a:spLocks noGrp="1"/>
          </p:cNvSpPr>
          <p:nvPr>
            <p:ph type="ftr" sz="quarter" idx="4294967295"/>
          </p:nvPr>
        </p:nvSpPr>
        <p:spPr>
          <a:xfrm>
            <a:off x="609600" y="6432550"/>
            <a:ext cx="5410200" cy="288925"/>
          </a:xfrm>
          <a:solidFill>
            <a:srgbClr val="F86308"/>
          </a:solidFill>
        </p:spPr>
        <p:txBody>
          <a:bodyPr/>
          <a:lstStyle/>
          <a:p>
            <a:r>
              <a:rPr lang="en-US" sz="1400" dirty="0"/>
              <a:t>AI-Driven Stock Market Predictor with  Sentiment Analysis </a:t>
            </a:r>
          </a:p>
        </p:txBody>
      </p:sp>
      <p:sp>
        <p:nvSpPr>
          <p:cNvPr id="3" name="Content Placeholder 2">
            <a:extLst>
              <a:ext uri="{FF2B5EF4-FFF2-40B4-BE49-F238E27FC236}">
                <a16:creationId xmlns:a16="http://schemas.microsoft.com/office/drawing/2014/main" id="{0B381C6C-BF40-422D-95DB-30DDF1A2252A}"/>
              </a:ext>
            </a:extLst>
          </p:cNvPr>
          <p:cNvSpPr>
            <a:spLocks noGrp="1" noChangeArrowheads="1"/>
          </p:cNvSpPr>
          <p:nvPr>
            <p:ph sz="quarter" idx="1"/>
          </p:nvPr>
        </p:nvSpPr>
        <p:spPr bwMode="auto">
          <a:xfrm>
            <a:off x="634721" y="1905000"/>
            <a:ext cx="7924799"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Model Training :</a:t>
            </a:r>
            <a:r>
              <a:rPr kumimoji="0" lang="en-US" altLang="en-US" sz="1600" b="0" i="0" u="none" strike="noStrike" cap="none" normalizeH="0" baseline="0" dirty="0">
                <a:ln>
                  <a:noFill/>
                </a:ln>
                <a:solidFill>
                  <a:schemeClr val="tx1"/>
                </a:solidFill>
                <a:effectLst/>
              </a:rPr>
              <a:t> Trained and tuned the LSTM model using 5-fold cross-validation. Tracked performance via RMSE, MAPE, and directional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Evaluation :</a:t>
            </a:r>
            <a:r>
              <a:rPr kumimoji="0" lang="en-US" altLang="en-US" sz="1600" b="0" i="0" u="none" strike="noStrike" cap="none" normalizeH="0" baseline="0" dirty="0">
                <a:ln>
                  <a:noFill/>
                </a:ln>
                <a:solidFill>
                  <a:schemeClr val="tx1"/>
                </a:solidFill>
                <a:effectLst/>
              </a:rPr>
              <a:t> Assessed model on test data. Conducted error analysis and validated prediction accuracy (target: 85–90%).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Research Validation :</a:t>
            </a:r>
            <a:r>
              <a:rPr kumimoji="0" lang="en-US" altLang="en-US" sz="1600" b="0" i="0" u="none" strike="noStrike" cap="none" normalizeH="0" baseline="0" dirty="0">
                <a:ln>
                  <a:noFill/>
                </a:ln>
                <a:solidFill>
                  <a:schemeClr val="tx1"/>
                </a:solidFill>
                <a:effectLst/>
              </a:rPr>
              <a:t> Compared results with related studies. Performed statistical validation and finalized findings.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Report Writing :</a:t>
            </a:r>
            <a:r>
              <a:rPr kumimoji="0" lang="en-US" altLang="en-US" sz="1600" b="0" i="0" u="none" strike="noStrike" cap="none" normalizeH="0" baseline="0" dirty="0">
                <a:ln>
                  <a:noFill/>
                </a:ln>
                <a:solidFill>
                  <a:schemeClr val="tx1"/>
                </a:solidFill>
                <a:effectLst/>
              </a:rPr>
              <a:t> Drafted full FYP-II research report including all sections, visuals, and references.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Supervisor Review :</a:t>
            </a:r>
            <a:r>
              <a:rPr kumimoji="0" lang="en-US" altLang="en-US" sz="1600" b="0" i="0" u="none" strike="noStrike" cap="none" normalizeH="0" baseline="0" dirty="0">
                <a:ln>
                  <a:noFill/>
                </a:ln>
                <a:solidFill>
                  <a:schemeClr val="tx1"/>
                </a:solidFill>
                <a:effectLst/>
              </a:rPr>
              <a:t> Revised report based on supervisor feedback. Finalized formatting and citations.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Final Submission :</a:t>
            </a:r>
            <a:r>
              <a:rPr kumimoji="0" lang="en-US" altLang="en-US" sz="1600" b="0" i="0" u="none" strike="noStrike" cap="none" normalizeH="0" baseline="0" dirty="0">
                <a:ln>
                  <a:noFill/>
                </a:ln>
                <a:solidFill>
                  <a:schemeClr val="tx1"/>
                </a:solidFill>
                <a:effectLst/>
              </a:rPr>
              <a:t> Submitted report, prepared slides, and rehearsed presentation for defense.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FYP-II Evaluation :</a:t>
            </a:r>
            <a:r>
              <a:rPr kumimoji="0" lang="en-US" altLang="en-US" sz="1600" b="0" i="0" u="none" strike="noStrike" cap="none" normalizeH="0" baseline="0" dirty="0">
                <a:ln>
                  <a:noFill/>
                </a:ln>
                <a:solidFill>
                  <a:schemeClr val="tx1"/>
                </a:solidFill>
                <a:effectLst/>
              </a:rPr>
              <a:t> Presented findings to the evaluation panel, answered questions, and completed project defense.</a:t>
            </a:r>
          </a:p>
        </p:txBody>
      </p:sp>
    </p:spTree>
    <p:extLst>
      <p:ext uri="{BB962C8B-B14F-4D97-AF65-F5344CB8AC3E}">
        <p14:creationId xmlns:p14="http://schemas.microsoft.com/office/powerpoint/2010/main" val="39096059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5" name="Title 1"/>
          <p:cNvSpPr>
            <a:spLocks noGrp="1"/>
          </p:cNvSpPr>
          <p:nvPr>
            <p:ph type="title"/>
          </p:nvPr>
        </p:nvSpPr>
        <p:spPr/>
        <p:txBody>
          <a:bodyPr/>
          <a:lstStyle/>
          <a:p>
            <a:r>
              <a:rPr lang="en-US" dirty="0"/>
              <a:t>Project </a:t>
            </a:r>
            <a:r>
              <a:rPr lang="en-US" b="1" dirty="0"/>
              <a:t>Plan</a:t>
            </a:r>
            <a:endParaRPr lang="en-US" dirty="0"/>
          </a:p>
        </p:txBody>
      </p:sp>
      <p:sp>
        <p:nvSpPr>
          <p:cNvPr id="1048656" name="Footer Placeholder 3"/>
          <p:cNvSpPr>
            <a:spLocks noGrp="1"/>
          </p:cNvSpPr>
          <p:nvPr>
            <p:ph type="ftr" sz="quarter" idx="11"/>
          </p:nvPr>
        </p:nvSpPr>
        <p:spPr/>
        <p:txBody>
          <a:bodyPr/>
          <a:lstStyle/>
          <a:p>
            <a:r>
              <a:rPr lang="en-US" sz="1400" dirty="0"/>
              <a:t>AI-Driven Stock Market Predictor with  Sentiment Analysis </a:t>
            </a:r>
          </a:p>
        </p:txBody>
      </p:sp>
      <p:sp>
        <p:nvSpPr>
          <p:cNvPr id="1048657" name="Date Placeholder 5"/>
          <p:cNvSpPr>
            <a:spLocks noGrp="1"/>
          </p:cNvSpPr>
          <p:nvPr>
            <p:ph type="dt" sz="half" idx="10"/>
          </p:nvPr>
        </p:nvSpPr>
        <p:spPr/>
        <p:txBody>
          <a:bodyPr/>
          <a:lstStyle/>
          <a:p>
            <a:r>
              <a:rPr lang="en-US" sz="1200" dirty="0"/>
              <a:t>CS-FYP    </a:t>
            </a:r>
            <a:r>
              <a:rPr lang="en-US" sz="1200" dirty="0" err="1"/>
              <a:t>Hamdard</a:t>
            </a:r>
            <a:r>
              <a:rPr lang="en-US" sz="1200" dirty="0"/>
              <a:t> University </a:t>
            </a:r>
          </a:p>
        </p:txBody>
      </p:sp>
      <p:sp>
        <p:nvSpPr>
          <p:cNvPr id="1048658" name="Slide Number Placeholder 6"/>
          <p:cNvSpPr>
            <a:spLocks noGrp="1"/>
          </p:cNvSpPr>
          <p:nvPr>
            <p:ph type="sldNum" sz="quarter" idx="12"/>
          </p:nvPr>
        </p:nvSpPr>
        <p:spPr/>
        <p:txBody>
          <a:bodyPr/>
          <a:lstStyle/>
          <a:p>
            <a:fld id="{9EBC64C3-3FC7-4C40-910B-2643F037F02C}" type="slidenum">
              <a:rPr lang="en-US" smtClean="0"/>
              <a:t>14</a:t>
            </a:fld>
            <a:endParaRPr lang="en-US" dirty="0"/>
          </a:p>
        </p:txBody>
      </p:sp>
      <p:pic>
        <p:nvPicPr>
          <p:cNvPr id="9" name="Content Placeholder 8">
            <a:extLst>
              <a:ext uri="{FF2B5EF4-FFF2-40B4-BE49-F238E27FC236}">
                <a16:creationId xmlns:a16="http://schemas.microsoft.com/office/drawing/2014/main" id="{B06A0617-DA6B-470A-880E-A0D3B5ACFA96}"/>
              </a:ext>
            </a:extLst>
          </p:cNvPr>
          <p:cNvPicPr>
            <a:picLocks noGrp="1"/>
          </p:cNvPicPr>
          <p:nvPr>
            <p:ph sz="quarter" idx="1"/>
          </p:nvPr>
        </p:nvPicPr>
        <p:blipFill>
          <a:blip r:embed="rId2" cstate="print">
            <a:extLst>
              <a:ext uri="{28A0092B-C50C-407E-A947-70E740481C1C}">
                <a14:useLocalDpi xmlns:a14="http://schemas.microsoft.com/office/drawing/2010/main" val="0"/>
              </a:ext>
            </a:extLst>
          </a:blip>
          <a:srcRect/>
          <a:stretch>
            <a:fillRect/>
          </a:stretch>
        </p:blipFill>
        <p:spPr bwMode="auto">
          <a:xfrm>
            <a:off x="1553347" y="1715782"/>
            <a:ext cx="6272255" cy="426463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5" name="Title 1"/>
          <p:cNvSpPr>
            <a:spLocks noGrp="1"/>
          </p:cNvSpPr>
          <p:nvPr>
            <p:ph type="title"/>
          </p:nvPr>
        </p:nvSpPr>
        <p:spPr/>
        <p:txBody>
          <a:bodyPr/>
          <a:lstStyle/>
          <a:p>
            <a:r>
              <a:rPr lang="en-US" dirty="0"/>
              <a:t>Project </a:t>
            </a:r>
            <a:r>
              <a:rPr lang="en-US" b="1" dirty="0"/>
              <a:t>Tools</a:t>
            </a:r>
            <a:r>
              <a:rPr lang="en-US" dirty="0"/>
              <a:t> </a:t>
            </a:r>
          </a:p>
        </p:txBody>
      </p:sp>
      <p:sp>
        <p:nvSpPr>
          <p:cNvPr id="1048656" name="Footer Placeholder 3"/>
          <p:cNvSpPr>
            <a:spLocks noGrp="1"/>
          </p:cNvSpPr>
          <p:nvPr>
            <p:ph type="ftr" sz="quarter" idx="11"/>
          </p:nvPr>
        </p:nvSpPr>
        <p:spPr/>
        <p:txBody>
          <a:bodyPr/>
          <a:lstStyle/>
          <a:p>
            <a:r>
              <a:rPr lang="en-US" sz="1400" dirty="0"/>
              <a:t>AI-Driven Stock Market Predictor with  Sentiment Analysis </a:t>
            </a:r>
          </a:p>
        </p:txBody>
      </p:sp>
      <p:sp>
        <p:nvSpPr>
          <p:cNvPr id="1048657" name="Date Placeholder 5"/>
          <p:cNvSpPr>
            <a:spLocks noGrp="1"/>
          </p:cNvSpPr>
          <p:nvPr>
            <p:ph type="dt" sz="half" idx="10"/>
          </p:nvPr>
        </p:nvSpPr>
        <p:spPr/>
        <p:txBody>
          <a:bodyPr/>
          <a:lstStyle/>
          <a:p>
            <a:r>
              <a:rPr lang="en-US" sz="1200" dirty="0"/>
              <a:t>CS-FYP    </a:t>
            </a:r>
            <a:r>
              <a:rPr lang="en-US" sz="1200" dirty="0" err="1"/>
              <a:t>Hamdard</a:t>
            </a:r>
            <a:r>
              <a:rPr lang="en-US" sz="1200" dirty="0"/>
              <a:t> University </a:t>
            </a:r>
          </a:p>
        </p:txBody>
      </p:sp>
      <p:sp>
        <p:nvSpPr>
          <p:cNvPr id="1048658" name="Slide Number Placeholder 6"/>
          <p:cNvSpPr>
            <a:spLocks noGrp="1"/>
          </p:cNvSpPr>
          <p:nvPr>
            <p:ph type="sldNum" sz="quarter" idx="12"/>
          </p:nvPr>
        </p:nvSpPr>
        <p:spPr/>
        <p:txBody>
          <a:bodyPr/>
          <a:lstStyle/>
          <a:p>
            <a:fld id="{9EBC64C3-3FC7-4C40-910B-2643F037F02C}" type="slidenum">
              <a:rPr lang="en-US" smtClean="0"/>
              <a:t>15</a:t>
            </a:fld>
            <a:endParaRPr lang="en-US" dirty="0"/>
          </a:p>
        </p:txBody>
      </p:sp>
      <p:graphicFrame>
        <p:nvGraphicFramePr>
          <p:cNvPr id="18" name="Content Placeholder 17">
            <a:extLst>
              <a:ext uri="{FF2B5EF4-FFF2-40B4-BE49-F238E27FC236}">
                <a16:creationId xmlns:a16="http://schemas.microsoft.com/office/drawing/2014/main" id="{4B7ACE78-E9B4-4DCA-81FC-2E8360100A26}"/>
              </a:ext>
            </a:extLst>
          </p:cNvPr>
          <p:cNvGraphicFramePr>
            <a:graphicFrameLocks noGrp="1"/>
          </p:cNvGraphicFramePr>
          <p:nvPr>
            <p:ph sz="quarter" idx="1"/>
            <p:extLst>
              <p:ext uri="{D42A27DB-BD31-4B8C-83A1-F6EECF244321}">
                <p14:modId xmlns:p14="http://schemas.microsoft.com/office/powerpoint/2010/main" val="1870788337"/>
              </p:ext>
            </p:extLst>
          </p:nvPr>
        </p:nvGraphicFramePr>
        <p:xfrm>
          <a:off x="612775" y="2567940"/>
          <a:ext cx="8153400" cy="2560320"/>
        </p:xfrm>
        <a:graphic>
          <a:graphicData uri="http://schemas.openxmlformats.org/drawingml/2006/table">
            <a:tbl>
              <a:tblPr/>
              <a:tblGrid>
                <a:gridCol w="4076700">
                  <a:extLst>
                    <a:ext uri="{9D8B030D-6E8A-4147-A177-3AD203B41FA5}">
                      <a16:colId xmlns:a16="http://schemas.microsoft.com/office/drawing/2014/main" val="420713976"/>
                    </a:ext>
                  </a:extLst>
                </a:gridCol>
                <a:gridCol w="4076700">
                  <a:extLst>
                    <a:ext uri="{9D8B030D-6E8A-4147-A177-3AD203B41FA5}">
                      <a16:colId xmlns:a16="http://schemas.microsoft.com/office/drawing/2014/main" val="2713193809"/>
                    </a:ext>
                  </a:extLst>
                </a:gridCol>
              </a:tblGrid>
              <a:tr h="0">
                <a:tc>
                  <a:txBody>
                    <a:bodyPr/>
                    <a:lstStyle/>
                    <a:p>
                      <a:r>
                        <a:rPr lang="en-US"/>
                        <a:t>Category</a:t>
                      </a:r>
                    </a:p>
                  </a:txBody>
                  <a:tcPr anchor="ctr">
                    <a:lnL>
                      <a:noFill/>
                    </a:lnL>
                    <a:lnR>
                      <a:noFill/>
                    </a:lnR>
                    <a:lnT>
                      <a:noFill/>
                    </a:lnT>
                    <a:lnB>
                      <a:noFill/>
                    </a:lnB>
                  </a:tcPr>
                </a:tc>
                <a:tc>
                  <a:txBody>
                    <a:bodyPr/>
                    <a:lstStyle/>
                    <a:p>
                      <a:r>
                        <a:rPr lang="en-US"/>
                        <a:t>Tools Used</a:t>
                      </a:r>
                    </a:p>
                  </a:txBody>
                  <a:tcPr anchor="ctr">
                    <a:lnL>
                      <a:noFill/>
                    </a:lnL>
                    <a:lnR>
                      <a:noFill/>
                    </a:lnR>
                    <a:lnT>
                      <a:noFill/>
                    </a:lnT>
                    <a:lnB>
                      <a:noFill/>
                    </a:lnB>
                  </a:tcPr>
                </a:tc>
                <a:extLst>
                  <a:ext uri="{0D108BD9-81ED-4DB2-BD59-A6C34878D82A}">
                    <a16:rowId xmlns:a16="http://schemas.microsoft.com/office/drawing/2014/main" val="719986405"/>
                  </a:ext>
                </a:extLst>
              </a:tr>
              <a:tr h="0">
                <a:tc>
                  <a:txBody>
                    <a:bodyPr/>
                    <a:lstStyle/>
                    <a:p>
                      <a:r>
                        <a:rPr lang="en-US"/>
                        <a:t>Programming</a:t>
                      </a:r>
                    </a:p>
                  </a:txBody>
                  <a:tcPr anchor="ctr">
                    <a:lnL>
                      <a:noFill/>
                    </a:lnL>
                    <a:lnR>
                      <a:noFill/>
                    </a:lnR>
                    <a:lnT>
                      <a:noFill/>
                    </a:lnT>
                    <a:lnB>
                      <a:noFill/>
                    </a:lnB>
                  </a:tcPr>
                </a:tc>
                <a:tc>
                  <a:txBody>
                    <a:bodyPr/>
                    <a:lstStyle/>
                    <a:p>
                      <a:r>
                        <a:rPr lang="en-US"/>
                        <a:t>Python, Jupyter Notebook</a:t>
                      </a:r>
                    </a:p>
                  </a:txBody>
                  <a:tcPr anchor="ctr">
                    <a:lnL>
                      <a:noFill/>
                    </a:lnL>
                    <a:lnR>
                      <a:noFill/>
                    </a:lnR>
                    <a:lnT>
                      <a:noFill/>
                    </a:lnT>
                    <a:lnB>
                      <a:noFill/>
                    </a:lnB>
                  </a:tcPr>
                </a:tc>
                <a:extLst>
                  <a:ext uri="{0D108BD9-81ED-4DB2-BD59-A6C34878D82A}">
                    <a16:rowId xmlns:a16="http://schemas.microsoft.com/office/drawing/2014/main" val="36246141"/>
                  </a:ext>
                </a:extLst>
              </a:tr>
              <a:tr h="0">
                <a:tc>
                  <a:txBody>
                    <a:bodyPr/>
                    <a:lstStyle/>
                    <a:p>
                      <a:r>
                        <a:rPr lang="en-US"/>
                        <a:t>Data Handling</a:t>
                      </a:r>
                    </a:p>
                  </a:txBody>
                  <a:tcPr anchor="ctr">
                    <a:lnL>
                      <a:noFill/>
                    </a:lnL>
                    <a:lnR>
                      <a:noFill/>
                    </a:lnR>
                    <a:lnT>
                      <a:noFill/>
                    </a:lnT>
                    <a:lnB>
                      <a:noFill/>
                    </a:lnB>
                  </a:tcPr>
                </a:tc>
                <a:tc>
                  <a:txBody>
                    <a:bodyPr/>
                    <a:lstStyle/>
                    <a:p>
                      <a:r>
                        <a:rPr lang="en-US"/>
                        <a:t>Pandas, NumPy</a:t>
                      </a:r>
                    </a:p>
                  </a:txBody>
                  <a:tcPr anchor="ctr">
                    <a:lnL>
                      <a:noFill/>
                    </a:lnL>
                    <a:lnR>
                      <a:noFill/>
                    </a:lnR>
                    <a:lnT>
                      <a:noFill/>
                    </a:lnT>
                    <a:lnB>
                      <a:noFill/>
                    </a:lnB>
                  </a:tcPr>
                </a:tc>
                <a:extLst>
                  <a:ext uri="{0D108BD9-81ED-4DB2-BD59-A6C34878D82A}">
                    <a16:rowId xmlns:a16="http://schemas.microsoft.com/office/drawing/2014/main" val="3408677594"/>
                  </a:ext>
                </a:extLst>
              </a:tr>
              <a:tr h="0">
                <a:tc>
                  <a:txBody>
                    <a:bodyPr/>
                    <a:lstStyle/>
                    <a:p>
                      <a:r>
                        <a:rPr lang="en-US"/>
                        <a:t>Deep Learning</a:t>
                      </a:r>
                    </a:p>
                  </a:txBody>
                  <a:tcPr anchor="ctr">
                    <a:lnL>
                      <a:noFill/>
                    </a:lnL>
                    <a:lnR>
                      <a:noFill/>
                    </a:lnR>
                    <a:lnT>
                      <a:noFill/>
                    </a:lnT>
                    <a:lnB>
                      <a:noFill/>
                    </a:lnB>
                  </a:tcPr>
                </a:tc>
                <a:tc>
                  <a:txBody>
                    <a:bodyPr/>
                    <a:lstStyle/>
                    <a:p>
                      <a:r>
                        <a:rPr lang="en-US"/>
                        <a:t>TensorFlow, Keras (LSTM, BiLSTM)</a:t>
                      </a:r>
                    </a:p>
                  </a:txBody>
                  <a:tcPr anchor="ctr">
                    <a:lnL>
                      <a:noFill/>
                    </a:lnL>
                    <a:lnR>
                      <a:noFill/>
                    </a:lnR>
                    <a:lnT>
                      <a:noFill/>
                    </a:lnT>
                    <a:lnB>
                      <a:noFill/>
                    </a:lnB>
                  </a:tcPr>
                </a:tc>
                <a:extLst>
                  <a:ext uri="{0D108BD9-81ED-4DB2-BD59-A6C34878D82A}">
                    <a16:rowId xmlns:a16="http://schemas.microsoft.com/office/drawing/2014/main" val="221911620"/>
                  </a:ext>
                </a:extLst>
              </a:tr>
              <a:tr h="0">
                <a:tc>
                  <a:txBody>
                    <a:bodyPr/>
                    <a:lstStyle/>
                    <a:p>
                      <a:r>
                        <a:rPr lang="en-US"/>
                        <a:t>NLP &amp; Sentiment</a:t>
                      </a:r>
                    </a:p>
                  </a:txBody>
                  <a:tcPr anchor="ctr">
                    <a:lnL>
                      <a:noFill/>
                    </a:lnL>
                    <a:lnR>
                      <a:noFill/>
                    </a:lnR>
                    <a:lnT>
                      <a:noFill/>
                    </a:lnT>
                    <a:lnB>
                      <a:noFill/>
                    </a:lnB>
                  </a:tcPr>
                </a:tc>
                <a:tc>
                  <a:txBody>
                    <a:bodyPr/>
                    <a:lstStyle/>
                    <a:p>
                      <a:r>
                        <a:rPr lang="en-US"/>
                        <a:t>FinBERT, Loughran-McDonald Dictionary</a:t>
                      </a:r>
                    </a:p>
                  </a:txBody>
                  <a:tcPr anchor="ctr">
                    <a:lnL>
                      <a:noFill/>
                    </a:lnL>
                    <a:lnR>
                      <a:noFill/>
                    </a:lnR>
                    <a:lnT>
                      <a:noFill/>
                    </a:lnT>
                    <a:lnB>
                      <a:noFill/>
                    </a:lnB>
                  </a:tcPr>
                </a:tc>
                <a:extLst>
                  <a:ext uri="{0D108BD9-81ED-4DB2-BD59-A6C34878D82A}">
                    <a16:rowId xmlns:a16="http://schemas.microsoft.com/office/drawing/2014/main" val="3500276573"/>
                  </a:ext>
                </a:extLst>
              </a:tr>
              <a:tr h="0">
                <a:tc>
                  <a:txBody>
                    <a:bodyPr/>
                    <a:lstStyle/>
                    <a:p>
                      <a:r>
                        <a:rPr lang="en-US"/>
                        <a:t>Visualization</a:t>
                      </a:r>
                    </a:p>
                  </a:txBody>
                  <a:tcPr anchor="ctr">
                    <a:lnL>
                      <a:noFill/>
                    </a:lnL>
                    <a:lnR>
                      <a:noFill/>
                    </a:lnR>
                    <a:lnT>
                      <a:noFill/>
                    </a:lnT>
                    <a:lnB>
                      <a:noFill/>
                    </a:lnB>
                  </a:tcPr>
                </a:tc>
                <a:tc>
                  <a:txBody>
                    <a:bodyPr/>
                    <a:lstStyle/>
                    <a:p>
                      <a:r>
                        <a:rPr lang="en-US"/>
                        <a:t>Matplotlib, Seaborn</a:t>
                      </a:r>
                    </a:p>
                  </a:txBody>
                  <a:tcPr anchor="ctr">
                    <a:lnL>
                      <a:noFill/>
                    </a:lnL>
                    <a:lnR>
                      <a:noFill/>
                    </a:lnR>
                    <a:lnT>
                      <a:noFill/>
                    </a:lnT>
                    <a:lnB>
                      <a:noFill/>
                    </a:lnB>
                  </a:tcPr>
                </a:tc>
                <a:extLst>
                  <a:ext uri="{0D108BD9-81ED-4DB2-BD59-A6C34878D82A}">
                    <a16:rowId xmlns:a16="http://schemas.microsoft.com/office/drawing/2014/main" val="2121189177"/>
                  </a:ext>
                </a:extLst>
              </a:tr>
              <a:tr h="0">
                <a:tc>
                  <a:txBody>
                    <a:bodyPr/>
                    <a:lstStyle/>
                    <a:p>
                      <a:r>
                        <a:rPr lang="en-US"/>
                        <a:t>Data Access</a:t>
                      </a:r>
                    </a:p>
                  </a:txBody>
                  <a:tcPr anchor="ctr">
                    <a:lnL>
                      <a:noFill/>
                    </a:lnL>
                    <a:lnR>
                      <a:noFill/>
                    </a:lnR>
                    <a:lnT>
                      <a:noFill/>
                    </a:lnT>
                    <a:lnB>
                      <a:noFill/>
                    </a:lnB>
                  </a:tcPr>
                </a:tc>
                <a:tc>
                  <a:txBody>
                    <a:bodyPr/>
                    <a:lstStyle/>
                    <a:p>
                      <a:r>
                        <a:rPr lang="en-US" dirty="0" err="1"/>
                        <a:t>yfinance</a:t>
                      </a:r>
                      <a:r>
                        <a:rPr lang="en-US" dirty="0"/>
                        <a:t>, RSS scraping (Dawn, BR, News)</a:t>
                      </a:r>
                    </a:p>
                  </a:txBody>
                  <a:tcPr anchor="ctr">
                    <a:lnL>
                      <a:noFill/>
                    </a:lnL>
                    <a:lnR>
                      <a:noFill/>
                    </a:lnR>
                    <a:lnT>
                      <a:noFill/>
                    </a:lnT>
                    <a:lnB>
                      <a:noFill/>
                    </a:lnB>
                  </a:tcPr>
                </a:tc>
                <a:extLst>
                  <a:ext uri="{0D108BD9-81ED-4DB2-BD59-A6C34878D82A}">
                    <a16:rowId xmlns:a16="http://schemas.microsoft.com/office/drawing/2014/main" val="214501029"/>
                  </a:ext>
                </a:extLst>
              </a:tr>
            </a:tbl>
          </a:graphicData>
        </a:graphic>
      </p:graphicFrame>
      <p:graphicFrame>
        <p:nvGraphicFramePr>
          <p:cNvPr id="25" name="Table 24">
            <a:extLst>
              <a:ext uri="{FF2B5EF4-FFF2-40B4-BE49-F238E27FC236}">
                <a16:creationId xmlns:a16="http://schemas.microsoft.com/office/drawing/2014/main" id="{A52B0A80-821C-4CA7-B2DB-1101A26EBE47}"/>
              </a:ext>
            </a:extLst>
          </p:cNvPr>
          <p:cNvGraphicFramePr>
            <a:graphicFrameLocks noGrp="1"/>
          </p:cNvGraphicFramePr>
          <p:nvPr>
            <p:extLst>
              <p:ext uri="{D42A27DB-BD31-4B8C-83A1-F6EECF244321}">
                <p14:modId xmlns:p14="http://schemas.microsoft.com/office/powerpoint/2010/main" val="2281210535"/>
              </p:ext>
            </p:extLst>
          </p:nvPr>
        </p:nvGraphicFramePr>
        <p:xfrm>
          <a:off x="609844" y="2567940"/>
          <a:ext cx="8159262" cy="2636940"/>
        </p:xfrm>
        <a:graphic>
          <a:graphicData uri="http://schemas.openxmlformats.org/drawingml/2006/table">
            <a:tbl>
              <a:tblPr/>
              <a:tblGrid>
                <a:gridCol w="8159262">
                  <a:extLst>
                    <a:ext uri="{9D8B030D-6E8A-4147-A177-3AD203B41FA5}">
                      <a16:colId xmlns:a16="http://schemas.microsoft.com/office/drawing/2014/main" val="3910315922"/>
                    </a:ext>
                  </a:extLst>
                </a:gridCol>
              </a:tblGrid>
              <a:tr h="361741">
                <a:tc>
                  <a:txBody>
                    <a:bodyPr/>
                    <a:lstStyle/>
                    <a:p>
                      <a:endParaRPr 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7976475"/>
                  </a:ext>
                </a:extLst>
              </a:tr>
              <a:tr h="35772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2486643"/>
                  </a:ext>
                </a:extLst>
              </a:tr>
              <a:tr h="291988">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9164172"/>
                  </a:ext>
                </a:extLst>
              </a:tr>
              <a:tr h="298017">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3933780"/>
                  </a:ext>
                </a:extLst>
              </a:tr>
              <a:tr h="34423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1398269"/>
                  </a:ext>
                </a:extLst>
              </a:tr>
              <a:tr h="40407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0399724"/>
                  </a:ext>
                </a:extLst>
              </a:tr>
              <a:tr h="40407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extLst>
                  <a:ext uri="{0D108BD9-81ED-4DB2-BD59-A6C34878D82A}">
                    <a16:rowId xmlns:a16="http://schemas.microsoft.com/office/drawing/2014/main" val="733753928"/>
                  </a:ext>
                </a:extLst>
              </a:tr>
            </a:tbl>
          </a:graphicData>
        </a:graphic>
      </p:graphicFrame>
    </p:spTree>
    <p:extLst>
      <p:ext uri="{BB962C8B-B14F-4D97-AF65-F5344CB8AC3E}">
        <p14:creationId xmlns:p14="http://schemas.microsoft.com/office/powerpoint/2010/main" val="356126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75E51-BDAA-4248-B6D3-EC11DD8F8F8C}"/>
              </a:ext>
            </a:extLst>
          </p:cNvPr>
          <p:cNvSpPr>
            <a:spLocks noGrp="1"/>
          </p:cNvSpPr>
          <p:nvPr>
            <p:ph type="title"/>
          </p:nvPr>
        </p:nvSpPr>
        <p:spPr/>
        <p:txBody>
          <a:bodyPr/>
          <a:lstStyle/>
          <a:p>
            <a:r>
              <a:rPr lang="en-US" dirty="0"/>
              <a:t>Deliverables</a:t>
            </a:r>
          </a:p>
        </p:txBody>
      </p:sp>
      <p:sp>
        <p:nvSpPr>
          <p:cNvPr id="3" name="Date Placeholder 2">
            <a:extLst>
              <a:ext uri="{FF2B5EF4-FFF2-40B4-BE49-F238E27FC236}">
                <a16:creationId xmlns:a16="http://schemas.microsoft.com/office/drawing/2014/main" id="{026D500E-5215-496C-8365-838966FF68D0}"/>
              </a:ext>
            </a:extLst>
          </p:cNvPr>
          <p:cNvSpPr>
            <a:spLocks noGrp="1"/>
          </p:cNvSpPr>
          <p:nvPr>
            <p:ph type="dt" sz="half" idx="10"/>
          </p:nvPr>
        </p:nvSpPr>
        <p:spPr/>
        <p:txBody>
          <a:bodyPr/>
          <a:lstStyle/>
          <a:p>
            <a:r>
              <a:rPr lang="en-US"/>
              <a:t>CS-FYP    Hamdard University </a:t>
            </a:r>
            <a:endParaRPr lang="en-US" dirty="0"/>
          </a:p>
        </p:txBody>
      </p:sp>
      <p:sp>
        <p:nvSpPr>
          <p:cNvPr id="4" name="Footer Placeholder 3">
            <a:extLst>
              <a:ext uri="{FF2B5EF4-FFF2-40B4-BE49-F238E27FC236}">
                <a16:creationId xmlns:a16="http://schemas.microsoft.com/office/drawing/2014/main" id="{CEAE7620-AB7C-4602-94FC-1D54CA24157A}"/>
              </a:ext>
            </a:extLst>
          </p:cNvPr>
          <p:cNvSpPr>
            <a:spLocks noGrp="1"/>
          </p:cNvSpPr>
          <p:nvPr>
            <p:ph type="ftr" sz="quarter" idx="11"/>
          </p:nvPr>
        </p:nvSpPr>
        <p:spPr/>
        <p:txBody>
          <a:bodyPr/>
          <a:lstStyle/>
          <a:p>
            <a:r>
              <a:rPr lang="en-US" sz="1400" dirty="0"/>
              <a:t>AI-Driven Stock Market Predictor with  Sentiment Analysis </a:t>
            </a:r>
          </a:p>
        </p:txBody>
      </p:sp>
      <p:sp>
        <p:nvSpPr>
          <p:cNvPr id="5" name="Slide Number Placeholder 4">
            <a:extLst>
              <a:ext uri="{FF2B5EF4-FFF2-40B4-BE49-F238E27FC236}">
                <a16:creationId xmlns:a16="http://schemas.microsoft.com/office/drawing/2014/main" id="{C3F0A8C6-D0BD-48EC-8850-DE61C8BCC05D}"/>
              </a:ext>
            </a:extLst>
          </p:cNvPr>
          <p:cNvSpPr>
            <a:spLocks noGrp="1"/>
          </p:cNvSpPr>
          <p:nvPr>
            <p:ph type="sldNum" sz="quarter" idx="12"/>
          </p:nvPr>
        </p:nvSpPr>
        <p:spPr/>
        <p:txBody>
          <a:bodyPr/>
          <a:lstStyle/>
          <a:p>
            <a:fld id="{9EBC64C3-3FC7-4C40-910B-2643F037F02C}" type="slidenum">
              <a:rPr lang="en-US" smtClean="0"/>
              <a:t>16</a:t>
            </a:fld>
            <a:endParaRPr lang="en-US" dirty="0"/>
          </a:p>
        </p:txBody>
      </p:sp>
      <p:sp>
        <p:nvSpPr>
          <p:cNvPr id="6" name="Content Placeholder 5">
            <a:extLst>
              <a:ext uri="{FF2B5EF4-FFF2-40B4-BE49-F238E27FC236}">
                <a16:creationId xmlns:a16="http://schemas.microsoft.com/office/drawing/2014/main" id="{07D922FC-E32D-42A1-9606-3A9D971C90AA}"/>
              </a:ext>
            </a:extLst>
          </p:cNvPr>
          <p:cNvSpPr>
            <a:spLocks noGrp="1"/>
          </p:cNvSpPr>
          <p:nvPr>
            <p:ph sz="quarter" idx="1"/>
          </p:nvPr>
        </p:nvSpPr>
        <p:spPr>
          <a:xfrm>
            <a:off x="495300" y="1752600"/>
            <a:ext cx="8153400" cy="4495800"/>
          </a:xfrm>
        </p:spPr>
        <p:txBody>
          <a:bodyPr>
            <a:normAutofit/>
          </a:bodyPr>
          <a:lstStyle/>
          <a:p>
            <a:r>
              <a:rPr lang="en-US" sz="1600" b="1" dirty="0">
                <a:latin typeface="+mn-lt"/>
              </a:rPr>
              <a:t>Project Deliverables</a:t>
            </a:r>
          </a:p>
          <a:p>
            <a:pPr>
              <a:buFont typeface="Arial" panose="020B0604020202020204" pitchFamily="34" charset="0"/>
              <a:buChar char="•"/>
            </a:pPr>
            <a:r>
              <a:rPr lang="en-US" sz="1600" dirty="0">
                <a:latin typeface="+mn-lt"/>
              </a:rPr>
              <a:t>Cleaned and validated </a:t>
            </a:r>
            <a:r>
              <a:rPr lang="en-US" sz="1600" b="1" dirty="0">
                <a:latin typeface="+mn-lt"/>
              </a:rPr>
              <a:t>HBL OHLCV dataset</a:t>
            </a:r>
            <a:endParaRPr lang="en-US" sz="1600" dirty="0">
              <a:latin typeface="+mn-lt"/>
            </a:endParaRPr>
          </a:p>
          <a:p>
            <a:pPr>
              <a:buFont typeface="Arial" panose="020B0604020202020204" pitchFamily="34" charset="0"/>
              <a:buChar char="•"/>
            </a:pPr>
            <a:r>
              <a:rPr lang="en-US" sz="1600" dirty="0">
                <a:latin typeface="+mn-lt"/>
              </a:rPr>
              <a:t>Labeled and scored </a:t>
            </a:r>
            <a:r>
              <a:rPr lang="en-US" sz="1600" b="1" dirty="0">
                <a:latin typeface="+mn-lt"/>
              </a:rPr>
              <a:t>sentiment corpus</a:t>
            </a:r>
            <a:endParaRPr lang="en-US" sz="1600" dirty="0">
              <a:latin typeface="+mn-lt"/>
            </a:endParaRPr>
          </a:p>
          <a:p>
            <a:pPr>
              <a:buFont typeface="Arial" panose="020B0604020202020204" pitchFamily="34" charset="0"/>
              <a:buChar char="•"/>
            </a:pPr>
            <a:r>
              <a:rPr lang="en-US" sz="1600" b="1" dirty="0">
                <a:latin typeface="+mn-lt"/>
              </a:rPr>
              <a:t>Trained LSTM model</a:t>
            </a:r>
            <a:r>
              <a:rPr lang="en-US" sz="1600" dirty="0">
                <a:latin typeface="+mn-lt"/>
              </a:rPr>
              <a:t> with combined feature input</a:t>
            </a:r>
          </a:p>
          <a:p>
            <a:pPr>
              <a:buFont typeface="Arial" panose="020B0604020202020204" pitchFamily="34" charset="0"/>
              <a:buChar char="•"/>
            </a:pPr>
            <a:r>
              <a:rPr lang="en-US" sz="1600" dirty="0">
                <a:latin typeface="+mn-lt"/>
              </a:rPr>
              <a:t>Research </a:t>
            </a:r>
            <a:r>
              <a:rPr lang="en-US" sz="1600" b="1" dirty="0">
                <a:latin typeface="+mn-lt"/>
              </a:rPr>
              <a:t>paper</a:t>
            </a:r>
            <a:r>
              <a:rPr lang="en-US" sz="1600" dirty="0">
                <a:latin typeface="+mn-lt"/>
              </a:rPr>
              <a:t> with citations and evaluation metrics</a:t>
            </a:r>
          </a:p>
          <a:p>
            <a:pPr>
              <a:buFont typeface="Arial" panose="020B0604020202020204" pitchFamily="34" charset="0"/>
              <a:buChar char="•"/>
            </a:pPr>
            <a:r>
              <a:rPr lang="en-US" sz="1600" b="1" dirty="0">
                <a:latin typeface="+mn-lt"/>
              </a:rPr>
              <a:t>Presentation &amp; poster</a:t>
            </a:r>
            <a:r>
              <a:rPr lang="en-US" sz="1600" dirty="0">
                <a:latin typeface="+mn-lt"/>
              </a:rPr>
              <a:t> for FYP-II defense</a:t>
            </a:r>
          </a:p>
          <a:p>
            <a:pPr>
              <a:buFont typeface="Arial" panose="020B0604020202020204" pitchFamily="34" charset="0"/>
              <a:buChar char="•"/>
            </a:pPr>
            <a:r>
              <a:rPr lang="en-US" sz="1600" dirty="0">
                <a:latin typeface="+mn-lt"/>
              </a:rPr>
              <a:t>Scalable </a:t>
            </a:r>
            <a:r>
              <a:rPr lang="en-US" sz="1600" b="1" dirty="0">
                <a:latin typeface="+mn-lt"/>
              </a:rPr>
              <a:t>prototype</a:t>
            </a:r>
            <a:r>
              <a:rPr lang="en-US" sz="1600" dirty="0">
                <a:latin typeface="+mn-lt"/>
              </a:rPr>
              <a:t> for future PSX stocks</a:t>
            </a:r>
          </a:p>
          <a:p>
            <a:endParaRPr lang="en-US" sz="1600" dirty="0">
              <a:latin typeface="+mn-lt"/>
            </a:endParaRPr>
          </a:p>
        </p:txBody>
      </p:sp>
    </p:spTree>
    <p:extLst>
      <p:ext uri="{BB962C8B-B14F-4D97-AF65-F5344CB8AC3E}">
        <p14:creationId xmlns:p14="http://schemas.microsoft.com/office/powerpoint/2010/main" val="4847169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E9759-9997-46D6-A7E7-F024BCDE4671}"/>
              </a:ext>
            </a:extLst>
          </p:cNvPr>
          <p:cNvSpPr>
            <a:spLocks noGrp="1"/>
          </p:cNvSpPr>
          <p:nvPr>
            <p:ph type="title"/>
          </p:nvPr>
        </p:nvSpPr>
        <p:spPr/>
        <p:txBody>
          <a:bodyPr/>
          <a:lstStyle/>
          <a:p>
            <a:r>
              <a:rPr lang="en-US" dirty="0"/>
              <a:t>References</a:t>
            </a:r>
          </a:p>
        </p:txBody>
      </p:sp>
      <p:sp>
        <p:nvSpPr>
          <p:cNvPr id="3" name="Date Placeholder 2">
            <a:extLst>
              <a:ext uri="{FF2B5EF4-FFF2-40B4-BE49-F238E27FC236}">
                <a16:creationId xmlns:a16="http://schemas.microsoft.com/office/drawing/2014/main" id="{323771B0-9B63-4CC3-AD85-EDDBF5BFEEAA}"/>
              </a:ext>
            </a:extLst>
          </p:cNvPr>
          <p:cNvSpPr>
            <a:spLocks noGrp="1"/>
          </p:cNvSpPr>
          <p:nvPr>
            <p:ph type="dt" sz="half" idx="10"/>
          </p:nvPr>
        </p:nvSpPr>
        <p:spPr/>
        <p:txBody>
          <a:bodyPr/>
          <a:lstStyle/>
          <a:p>
            <a:r>
              <a:rPr lang="en-US"/>
              <a:t>CS-FYP    Hamdard University </a:t>
            </a:r>
            <a:endParaRPr lang="en-US" dirty="0"/>
          </a:p>
        </p:txBody>
      </p:sp>
      <p:sp>
        <p:nvSpPr>
          <p:cNvPr id="4" name="Footer Placeholder 3">
            <a:extLst>
              <a:ext uri="{FF2B5EF4-FFF2-40B4-BE49-F238E27FC236}">
                <a16:creationId xmlns:a16="http://schemas.microsoft.com/office/drawing/2014/main" id="{8BF84135-1D89-4643-B6E4-1A4097E3771C}"/>
              </a:ext>
            </a:extLst>
          </p:cNvPr>
          <p:cNvSpPr>
            <a:spLocks noGrp="1"/>
          </p:cNvSpPr>
          <p:nvPr>
            <p:ph type="ftr" sz="quarter" idx="11"/>
          </p:nvPr>
        </p:nvSpPr>
        <p:spPr/>
        <p:txBody>
          <a:bodyPr/>
          <a:lstStyle/>
          <a:p>
            <a:r>
              <a:rPr lang="en-US" sz="1400" dirty="0"/>
              <a:t>AI-Driven Stock Market Predictor with  Sentiment Analysis </a:t>
            </a:r>
          </a:p>
        </p:txBody>
      </p:sp>
      <p:sp>
        <p:nvSpPr>
          <p:cNvPr id="5" name="Slide Number Placeholder 4">
            <a:extLst>
              <a:ext uri="{FF2B5EF4-FFF2-40B4-BE49-F238E27FC236}">
                <a16:creationId xmlns:a16="http://schemas.microsoft.com/office/drawing/2014/main" id="{FBE6D572-4494-4766-9D4E-F336119946AE}"/>
              </a:ext>
            </a:extLst>
          </p:cNvPr>
          <p:cNvSpPr>
            <a:spLocks noGrp="1"/>
          </p:cNvSpPr>
          <p:nvPr>
            <p:ph type="sldNum" sz="quarter" idx="12"/>
          </p:nvPr>
        </p:nvSpPr>
        <p:spPr/>
        <p:txBody>
          <a:bodyPr/>
          <a:lstStyle/>
          <a:p>
            <a:fld id="{9EBC64C3-3FC7-4C40-910B-2643F037F02C}" type="slidenum">
              <a:rPr lang="en-US" smtClean="0"/>
              <a:t>17</a:t>
            </a:fld>
            <a:endParaRPr lang="en-US" dirty="0"/>
          </a:p>
        </p:txBody>
      </p:sp>
      <p:sp>
        <p:nvSpPr>
          <p:cNvPr id="6" name="Content Placeholder 5">
            <a:extLst>
              <a:ext uri="{FF2B5EF4-FFF2-40B4-BE49-F238E27FC236}">
                <a16:creationId xmlns:a16="http://schemas.microsoft.com/office/drawing/2014/main" id="{8FE1DBDD-54F2-46D6-9387-354EC159EAE0}"/>
              </a:ext>
            </a:extLst>
          </p:cNvPr>
          <p:cNvSpPr>
            <a:spLocks noGrp="1"/>
          </p:cNvSpPr>
          <p:nvPr>
            <p:ph sz="quarter" idx="1"/>
          </p:nvPr>
        </p:nvSpPr>
        <p:spPr>
          <a:xfrm>
            <a:off x="533400" y="1498460"/>
            <a:ext cx="8153400" cy="4495800"/>
          </a:xfrm>
        </p:spPr>
        <p:txBody>
          <a:bodyPr>
            <a:normAutofit fontScale="92500" lnSpcReduction="20000"/>
          </a:bodyPr>
          <a:lstStyle/>
          <a:p>
            <a:pPr marL="0" indent="0" algn="l">
              <a:buNone/>
            </a:pPr>
            <a:endParaRPr lang="en-US" sz="1700" b="1" i="0" dirty="0">
              <a:effectLst/>
              <a:latin typeface="+mn-lt"/>
            </a:endParaRPr>
          </a:p>
          <a:p>
            <a:pPr algn="l">
              <a:buFont typeface="Arial" panose="020B0604020202020204" pitchFamily="34" charset="0"/>
              <a:buChar char="•"/>
            </a:pPr>
            <a:r>
              <a:rPr lang="en-US" sz="1700" b="0" i="0" dirty="0" err="1">
                <a:effectLst/>
                <a:latin typeface="+mn-lt"/>
              </a:rPr>
              <a:t>Araci</a:t>
            </a:r>
            <a:r>
              <a:rPr lang="en-US" sz="1700" b="0" i="0" dirty="0">
                <a:effectLst/>
                <a:latin typeface="+mn-lt"/>
              </a:rPr>
              <a:t>, D. (2019). </a:t>
            </a:r>
            <a:r>
              <a:rPr lang="en-US" sz="1700" b="0" i="0" dirty="0" err="1">
                <a:effectLst/>
                <a:latin typeface="+mn-lt"/>
              </a:rPr>
              <a:t>FinBERT</a:t>
            </a:r>
            <a:r>
              <a:rPr lang="en-US" sz="1700" b="0" i="0" dirty="0">
                <a:effectLst/>
                <a:latin typeface="+mn-lt"/>
              </a:rPr>
              <a:t>: Financial Sentiment Analysis with Pre-trained Language Models. </a:t>
            </a:r>
            <a:r>
              <a:rPr lang="en-US" sz="1700" b="0" i="1" dirty="0" err="1">
                <a:effectLst/>
                <a:latin typeface="+mn-lt"/>
              </a:rPr>
              <a:t>arXiv</a:t>
            </a:r>
            <a:r>
              <a:rPr lang="en-US" sz="1700" b="0" i="1" dirty="0">
                <a:effectLst/>
                <a:latin typeface="+mn-lt"/>
              </a:rPr>
              <a:t> preprint</a:t>
            </a:r>
            <a:r>
              <a:rPr lang="en-US" sz="1700" b="0" i="0" dirty="0">
                <a:effectLst/>
                <a:latin typeface="+mn-lt"/>
              </a:rPr>
              <a:t> arXiv:1908.10063.</a:t>
            </a:r>
          </a:p>
          <a:p>
            <a:pPr algn="l">
              <a:buFont typeface="Arial" panose="020B0604020202020204" pitchFamily="34" charset="0"/>
              <a:buChar char="•"/>
            </a:pPr>
            <a:r>
              <a:rPr lang="en-US" sz="1700" b="0" i="0" dirty="0">
                <a:effectLst/>
                <a:latin typeface="+mn-lt"/>
              </a:rPr>
              <a:t>Chopra, R., &amp; Sharma, G. D. (2021). Application of Artificial Intelligence in Stock Market Forecasting. </a:t>
            </a:r>
            <a:r>
              <a:rPr lang="en-US" sz="1700" b="0" i="1" dirty="0">
                <a:effectLst/>
                <a:latin typeface="+mn-lt"/>
              </a:rPr>
              <a:t>Journal of Risk and Financial Management</a:t>
            </a:r>
            <a:r>
              <a:rPr lang="en-US" sz="1700" b="0" i="0" dirty="0">
                <a:effectLst/>
                <a:latin typeface="+mn-lt"/>
              </a:rPr>
              <a:t>, 14(2), 45.</a:t>
            </a:r>
          </a:p>
          <a:p>
            <a:pPr algn="l">
              <a:buFont typeface="Arial" panose="020B0604020202020204" pitchFamily="34" charset="0"/>
              <a:buChar char="•"/>
            </a:pPr>
            <a:r>
              <a:rPr lang="en-US" sz="1700" b="0" i="0" dirty="0" err="1">
                <a:effectLst/>
                <a:latin typeface="+mn-lt"/>
              </a:rPr>
              <a:t>Deveikyte</a:t>
            </a:r>
            <a:r>
              <a:rPr lang="en-US" sz="1700" b="0" i="0" dirty="0">
                <a:effectLst/>
                <a:latin typeface="+mn-lt"/>
              </a:rPr>
              <a:t>, V., et al. (2022). Sentiment Analysis in Financial Markets: A Review. </a:t>
            </a:r>
            <a:r>
              <a:rPr lang="en-US" sz="1700" b="0" i="1" dirty="0">
                <a:effectLst/>
                <a:latin typeface="+mn-lt"/>
              </a:rPr>
              <a:t>Journal of Financial Data Science</a:t>
            </a:r>
            <a:r>
              <a:rPr lang="en-US" sz="1700" b="0" i="0" dirty="0">
                <a:effectLst/>
                <a:latin typeface="+mn-lt"/>
              </a:rPr>
              <a:t>.</a:t>
            </a:r>
          </a:p>
          <a:p>
            <a:pPr algn="l">
              <a:buFont typeface="Arial" panose="020B0604020202020204" pitchFamily="34" charset="0"/>
              <a:buChar char="•"/>
            </a:pPr>
            <a:r>
              <a:rPr lang="en-US" sz="1700" b="0" i="0" dirty="0">
                <a:effectLst/>
                <a:latin typeface="+mn-lt"/>
              </a:rPr>
              <a:t>Fischer, T., &amp; Krauss, C. (2018). Deep learning with long short-term memory networks for financial market predictions. </a:t>
            </a:r>
            <a:r>
              <a:rPr lang="en-US" sz="1700" b="0" i="1" dirty="0">
                <a:effectLst/>
                <a:latin typeface="+mn-lt"/>
              </a:rPr>
              <a:t>European Journal of Operational Research</a:t>
            </a:r>
            <a:r>
              <a:rPr lang="en-US" sz="1700" b="0" i="0" dirty="0">
                <a:effectLst/>
                <a:latin typeface="+mn-lt"/>
              </a:rPr>
              <a:t>, 270(2), 654–669. </a:t>
            </a:r>
            <a:r>
              <a:rPr lang="en-US" sz="1700" b="0" i="0" dirty="0">
                <a:effectLst/>
                <a:latin typeface="+mn-lt"/>
                <a:hlinkClick r:id="rId2"/>
              </a:rPr>
              <a:t>https://doi.org/10.1016/j.ejor.2017.11.054</a:t>
            </a:r>
            <a:endParaRPr lang="en-US" sz="1700" b="0" i="0" dirty="0">
              <a:effectLst/>
              <a:latin typeface="+mn-lt"/>
            </a:endParaRPr>
          </a:p>
          <a:p>
            <a:pPr algn="l">
              <a:buFont typeface="Arial" panose="020B0604020202020204" pitchFamily="34" charset="0"/>
              <a:buChar char="•"/>
            </a:pPr>
            <a:r>
              <a:rPr lang="en-US" sz="1700" b="0" i="0" dirty="0">
                <a:effectLst/>
                <a:latin typeface="+mn-lt"/>
              </a:rPr>
              <a:t>Haroon, O., et al. (2023). Localized sentiment analysis for emerging stock markets. </a:t>
            </a:r>
            <a:r>
              <a:rPr lang="en-US" sz="1700" b="0" i="1" dirty="0">
                <a:effectLst/>
                <a:latin typeface="+mn-lt"/>
              </a:rPr>
              <a:t>Emerging Markets Journal</a:t>
            </a:r>
            <a:r>
              <a:rPr lang="en-US" sz="1700" b="0" i="0" dirty="0">
                <a:effectLst/>
                <a:latin typeface="+mn-lt"/>
              </a:rPr>
              <a:t>.</a:t>
            </a:r>
          </a:p>
          <a:p>
            <a:pPr algn="l">
              <a:buFont typeface="Arial" panose="020B0604020202020204" pitchFamily="34" charset="0"/>
              <a:buChar char="•"/>
            </a:pPr>
            <a:r>
              <a:rPr lang="en-US" sz="1700" b="0" i="0" dirty="0">
                <a:effectLst/>
                <a:latin typeface="+mn-lt"/>
              </a:rPr>
              <a:t>Highsmith, J. (2009). </a:t>
            </a:r>
            <a:r>
              <a:rPr lang="en-US" sz="1700" b="0" i="1" dirty="0">
                <a:effectLst/>
                <a:latin typeface="+mn-lt"/>
              </a:rPr>
              <a:t>Agile Project Management: Creating Innovative Products</a:t>
            </a:r>
            <a:r>
              <a:rPr lang="en-US" sz="1700" b="0" i="0" dirty="0">
                <a:effectLst/>
                <a:latin typeface="+mn-lt"/>
              </a:rPr>
              <a:t>. Addison-Wesley.</a:t>
            </a:r>
          </a:p>
          <a:p>
            <a:pPr algn="l">
              <a:buFont typeface="Arial" panose="020B0604020202020204" pitchFamily="34" charset="0"/>
              <a:buChar char="•"/>
            </a:pPr>
            <a:r>
              <a:rPr lang="en-US" sz="1700" b="0" i="0" dirty="0" err="1">
                <a:effectLst/>
                <a:latin typeface="+mn-lt"/>
              </a:rPr>
              <a:t>Hochreiter</a:t>
            </a:r>
            <a:r>
              <a:rPr lang="en-US" sz="1700" b="0" i="0" dirty="0">
                <a:effectLst/>
                <a:latin typeface="+mn-lt"/>
              </a:rPr>
              <a:t>, S., &amp; </a:t>
            </a:r>
            <a:r>
              <a:rPr lang="en-US" sz="1700" b="0" i="0" dirty="0" err="1">
                <a:effectLst/>
                <a:latin typeface="+mn-lt"/>
              </a:rPr>
              <a:t>Schmidhuber</a:t>
            </a:r>
            <a:r>
              <a:rPr lang="en-US" sz="1700" b="0" i="0" dirty="0">
                <a:effectLst/>
                <a:latin typeface="+mn-lt"/>
              </a:rPr>
              <a:t>, J. (1997). Long short-term memory. </a:t>
            </a:r>
            <a:r>
              <a:rPr lang="en-US" sz="1700" b="0" i="1" dirty="0">
                <a:effectLst/>
                <a:latin typeface="+mn-lt"/>
              </a:rPr>
              <a:t>Neural Computation</a:t>
            </a:r>
            <a:r>
              <a:rPr lang="en-US" sz="1700" b="0" i="0" dirty="0">
                <a:effectLst/>
                <a:latin typeface="+mn-lt"/>
              </a:rPr>
              <a:t>, 9(8), 1735–1780.</a:t>
            </a:r>
          </a:p>
          <a:p>
            <a:pPr algn="l">
              <a:buFont typeface="Arial" panose="020B0604020202020204" pitchFamily="34" charset="0"/>
              <a:buChar char="•"/>
            </a:pPr>
            <a:r>
              <a:rPr lang="en-US" sz="1700" b="0" i="0" dirty="0">
                <a:effectLst/>
                <a:latin typeface="+mn-lt"/>
              </a:rPr>
              <a:t>Khan, M., Ahmed, S., &amp; Tariq, R. (2023). Challenges in stock price prediction on Pakistan Stock Exchange. </a:t>
            </a:r>
            <a:r>
              <a:rPr lang="en-US" sz="1700" b="0" i="1" dirty="0">
                <a:effectLst/>
                <a:latin typeface="+mn-lt"/>
              </a:rPr>
              <a:t>Journal of Emerging Financial Markets</a:t>
            </a:r>
            <a:r>
              <a:rPr lang="en-US" sz="1700" b="0" i="0" dirty="0">
                <a:effectLst/>
                <a:latin typeface="+mn-lt"/>
              </a:rPr>
              <a:t>, 12(2), 45–59.</a:t>
            </a:r>
          </a:p>
          <a:p>
            <a:endParaRPr lang="en-US" sz="1100" dirty="0">
              <a:latin typeface="+mn-lt"/>
            </a:endParaRPr>
          </a:p>
        </p:txBody>
      </p:sp>
    </p:spTree>
    <p:extLst>
      <p:ext uri="{BB962C8B-B14F-4D97-AF65-F5344CB8AC3E}">
        <p14:creationId xmlns:p14="http://schemas.microsoft.com/office/powerpoint/2010/main" val="19691519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E9759-9997-46D6-A7E7-F024BCDE4671}"/>
              </a:ext>
            </a:extLst>
          </p:cNvPr>
          <p:cNvSpPr>
            <a:spLocks noGrp="1"/>
          </p:cNvSpPr>
          <p:nvPr>
            <p:ph type="title"/>
          </p:nvPr>
        </p:nvSpPr>
        <p:spPr/>
        <p:txBody>
          <a:bodyPr/>
          <a:lstStyle/>
          <a:p>
            <a:r>
              <a:rPr lang="en-US" dirty="0"/>
              <a:t>References</a:t>
            </a:r>
          </a:p>
        </p:txBody>
      </p:sp>
      <p:sp>
        <p:nvSpPr>
          <p:cNvPr id="3" name="Date Placeholder 2">
            <a:extLst>
              <a:ext uri="{FF2B5EF4-FFF2-40B4-BE49-F238E27FC236}">
                <a16:creationId xmlns:a16="http://schemas.microsoft.com/office/drawing/2014/main" id="{323771B0-9B63-4CC3-AD85-EDDBF5BFEEAA}"/>
              </a:ext>
            </a:extLst>
          </p:cNvPr>
          <p:cNvSpPr>
            <a:spLocks noGrp="1"/>
          </p:cNvSpPr>
          <p:nvPr>
            <p:ph type="dt" sz="half" idx="10"/>
          </p:nvPr>
        </p:nvSpPr>
        <p:spPr/>
        <p:txBody>
          <a:bodyPr/>
          <a:lstStyle/>
          <a:p>
            <a:r>
              <a:rPr lang="en-US"/>
              <a:t>CS-FYP    Hamdard University </a:t>
            </a:r>
            <a:endParaRPr lang="en-US" dirty="0"/>
          </a:p>
        </p:txBody>
      </p:sp>
      <p:sp>
        <p:nvSpPr>
          <p:cNvPr id="4" name="Footer Placeholder 3">
            <a:extLst>
              <a:ext uri="{FF2B5EF4-FFF2-40B4-BE49-F238E27FC236}">
                <a16:creationId xmlns:a16="http://schemas.microsoft.com/office/drawing/2014/main" id="{8BF84135-1D89-4643-B6E4-1A4097E3771C}"/>
              </a:ext>
            </a:extLst>
          </p:cNvPr>
          <p:cNvSpPr>
            <a:spLocks noGrp="1"/>
          </p:cNvSpPr>
          <p:nvPr>
            <p:ph type="ftr" sz="quarter" idx="11"/>
          </p:nvPr>
        </p:nvSpPr>
        <p:spPr>
          <a:xfrm>
            <a:off x="612648" y="6400800"/>
            <a:ext cx="5410200" cy="288925"/>
          </a:xfrm>
        </p:spPr>
        <p:txBody>
          <a:bodyPr/>
          <a:lstStyle/>
          <a:p>
            <a:r>
              <a:rPr lang="en-US" sz="1400" dirty="0"/>
              <a:t>AI-Driven Stock Market Predictor with  Sentiment Analysis </a:t>
            </a:r>
          </a:p>
        </p:txBody>
      </p:sp>
      <p:sp>
        <p:nvSpPr>
          <p:cNvPr id="5" name="Slide Number Placeholder 4">
            <a:extLst>
              <a:ext uri="{FF2B5EF4-FFF2-40B4-BE49-F238E27FC236}">
                <a16:creationId xmlns:a16="http://schemas.microsoft.com/office/drawing/2014/main" id="{FBE6D572-4494-4766-9D4E-F336119946AE}"/>
              </a:ext>
            </a:extLst>
          </p:cNvPr>
          <p:cNvSpPr>
            <a:spLocks noGrp="1"/>
          </p:cNvSpPr>
          <p:nvPr>
            <p:ph type="sldNum" sz="quarter" idx="12"/>
          </p:nvPr>
        </p:nvSpPr>
        <p:spPr/>
        <p:txBody>
          <a:bodyPr/>
          <a:lstStyle/>
          <a:p>
            <a:fld id="{9EBC64C3-3FC7-4C40-910B-2643F037F02C}" type="slidenum">
              <a:rPr lang="en-US" smtClean="0"/>
              <a:t>18</a:t>
            </a:fld>
            <a:endParaRPr lang="en-US" dirty="0"/>
          </a:p>
        </p:txBody>
      </p:sp>
      <p:sp>
        <p:nvSpPr>
          <p:cNvPr id="6" name="Content Placeholder 5">
            <a:extLst>
              <a:ext uri="{FF2B5EF4-FFF2-40B4-BE49-F238E27FC236}">
                <a16:creationId xmlns:a16="http://schemas.microsoft.com/office/drawing/2014/main" id="{8FE1DBDD-54F2-46D6-9387-354EC159EAE0}"/>
              </a:ext>
            </a:extLst>
          </p:cNvPr>
          <p:cNvSpPr>
            <a:spLocks noGrp="1"/>
          </p:cNvSpPr>
          <p:nvPr>
            <p:ph sz="quarter" idx="1"/>
          </p:nvPr>
        </p:nvSpPr>
        <p:spPr>
          <a:xfrm>
            <a:off x="640582" y="1752600"/>
            <a:ext cx="8153400" cy="4495800"/>
          </a:xfrm>
        </p:spPr>
        <p:txBody>
          <a:bodyPr>
            <a:normAutofit/>
          </a:bodyPr>
          <a:lstStyle/>
          <a:p>
            <a:pPr algn="l">
              <a:buFont typeface="Arial" panose="020B0604020202020204" pitchFamily="34" charset="0"/>
              <a:buChar char="•"/>
            </a:pPr>
            <a:r>
              <a:rPr lang="en-US" sz="1600" b="0" i="0" dirty="0">
                <a:effectLst/>
                <a:latin typeface="+mn-lt"/>
              </a:rPr>
              <a:t>Khan, M., &amp; Shaikh, S. (2024). Investor sentiment and stock market volatility in Pakistan. </a:t>
            </a:r>
            <a:r>
              <a:rPr lang="en-US" sz="1600" b="0" i="1" dirty="0">
                <a:effectLst/>
                <a:latin typeface="+mn-lt"/>
              </a:rPr>
              <a:t>Pakistan Economic Review</a:t>
            </a:r>
            <a:r>
              <a:rPr lang="en-US" sz="1600" b="0" i="0" dirty="0">
                <a:effectLst/>
                <a:latin typeface="+mn-lt"/>
              </a:rPr>
              <a:t>.</a:t>
            </a:r>
          </a:p>
          <a:p>
            <a:pPr algn="l">
              <a:buFont typeface="Arial" panose="020B0604020202020204" pitchFamily="34" charset="0"/>
              <a:buChar char="•"/>
            </a:pPr>
            <a:r>
              <a:rPr lang="en-US" sz="1600" b="0" i="0" dirty="0">
                <a:effectLst/>
                <a:latin typeface="+mn-lt"/>
              </a:rPr>
              <a:t>Loughran, T., &amp; McDonald, B. (2011). When is a liability not a liability? Textual analysis, dictionaries, and 10-Ks. </a:t>
            </a:r>
            <a:r>
              <a:rPr lang="en-US" sz="1600" b="0" i="1" dirty="0">
                <a:effectLst/>
                <a:latin typeface="+mn-lt"/>
              </a:rPr>
              <a:t>The Journal of Finance</a:t>
            </a:r>
            <a:r>
              <a:rPr lang="en-US" sz="1600" b="0" i="0" dirty="0">
                <a:effectLst/>
                <a:latin typeface="+mn-lt"/>
              </a:rPr>
              <a:t>, 66(1), 35–65.</a:t>
            </a:r>
          </a:p>
          <a:p>
            <a:pPr algn="l">
              <a:buFont typeface="Arial" panose="020B0604020202020204" pitchFamily="34" charset="0"/>
              <a:buChar char="•"/>
            </a:pPr>
            <a:r>
              <a:rPr lang="en-US" sz="1600" b="0" i="0" dirty="0">
                <a:effectLst/>
                <a:latin typeface="+mn-lt"/>
              </a:rPr>
              <a:t>Mokhtari, S., Yen, K.K., &amp; Liu, J. (2021). Effectiveness of Artificial Intelligence in Stock Market Prediction. </a:t>
            </a:r>
            <a:r>
              <a:rPr lang="en-US" sz="1600" b="0" i="1" dirty="0" err="1">
                <a:effectLst/>
                <a:latin typeface="+mn-lt"/>
              </a:rPr>
              <a:t>arXiv</a:t>
            </a:r>
            <a:r>
              <a:rPr lang="en-US" sz="1600" b="0" i="1" dirty="0">
                <a:effectLst/>
                <a:latin typeface="+mn-lt"/>
              </a:rPr>
              <a:t> preprint</a:t>
            </a:r>
            <a:r>
              <a:rPr lang="en-US" sz="1600" b="0" i="0" dirty="0">
                <a:effectLst/>
                <a:latin typeface="+mn-lt"/>
              </a:rPr>
              <a:t> arXiv:2107.01031.</a:t>
            </a:r>
          </a:p>
          <a:p>
            <a:pPr algn="l">
              <a:buFont typeface="Arial" panose="020B0604020202020204" pitchFamily="34" charset="0"/>
              <a:buChar char="•"/>
            </a:pPr>
            <a:r>
              <a:rPr lang="en-US" sz="1600" b="0" i="0" dirty="0">
                <a:effectLst/>
                <a:latin typeface="+mn-lt"/>
              </a:rPr>
              <a:t>Raza, S., Qureshi, A., &amp; Malik, F. (2025). Sentiment analysis integration for stock market forecasting: Evidence from PSX. </a:t>
            </a:r>
            <a:r>
              <a:rPr lang="en-US" sz="1600" b="0" i="1" dirty="0">
                <a:effectLst/>
                <a:latin typeface="+mn-lt"/>
              </a:rPr>
              <a:t>Asian Journal of Financial Technology</a:t>
            </a:r>
            <a:r>
              <a:rPr lang="en-US" sz="1600" b="0" i="0" dirty="0">
                <a:effectLst/>
                <a:latin typeface="+mn-lt"/>
              </a:rPr>
              <a:t>, 7(1), 22–34.</a:t>
            </a:r>
          </a:p>
          <a:p>
            <a:pPr algn="l">
              <a:buFont typeface="Arial" panose="020B0604020202020204" pitchFamily="34" charset="0"/>
              <a:buChar char="•"/>
            </a:pPr>
            <a:r>
              <a:rPr lang="en-US" sz="1600" b="0" i="0" dirty="0">
                <a:effectLst/>
                <a:latin typeface="+mn-lt"/>
              </a:rPr>
              <a:t>Shah, T., &amp; Malik, J. (2024). Hybrid models for forecasting in emerging markets: Case of Habib Bank Limited. </a:t>
            </a:r>
            <a:r>
              <a:rPr lang="en-US" sz="1600" b="0" i="1" dirty="0">
                <a:effectLst/>
                <a:latin typeface="+mn-lt"/>
              </a:rPr>
              <a:t>International Review of Finance and Economics</a:t>
            </a:r>
            <a:r>
              <a:rPr lang="en-US" sz="1600" b="0" i="0" dirty="0">
                <a:effectLst/>
                <a:latin typeface="+mn-lt"/>
              </a:rPr>
              <a:t>, 19(3), 121–130.</a:t>
            </a:r>
          </a:p>
          <a:p>
            <a:pPr algn="l">
              <a:buFont typeface="Arial" panose="020B0604020202020204" pitchFamily="34" charset="0"/>
              <a:buChar char="•"/>
            </a:pPr>
            <a:r>
              <a:rPr lang="en-US" sz="1600" b="0" i="0" dirty="0" err="1">
                <a:effectLst/>
                <a:latin typeface="+mn-lt"/>
              </a:rPr>
              <a:t>Vapnik</a:t>
            </a:r>
            <a:r>
              <a:rPr lang="en-US" sz="1600" b="0" i="0" dirty="0">
                <a:effectLst/>
                <a:latin typeface="+mn-lt"/>
              </a:rPr>
              <a:t>, V. (1995). </a:t>
            </a:r>
            <a:r>
              <a:rPr lang="en-US" sz="1600" b="0" i="1" dirty="0">
                <a:effectLst/>
                <a:latin typeface="+mn-lt"/>
              </a:rPr>
              <a:t>The Nature of Statistical Learning Theory</a:t>
            </a:r>
            <a:r>
              <a:rPr lang="en-US" sz="1600" b="0" i="0" dirty="0">
                <a:effectLst/>
                <a:latin typeface="+mn-lt"/>
              </a:rPr>
              <a:t>. Springer.</a:t>
            </a:r>
          </a:p>
          <a:p>
            <a:endParaRPr lang="en-US" sz="1600" dirty="0">
              <a:latin typeface="+mn-lt"/>
            </a:endParaRPr>
          </a:p>
        </p:txBody>
      </p:sp>
    </p:spTree>
    <p:extLst>
      <p:ext uri="{BB962C8B-B14F-4D97-AF65-F5344CB8AC3E}">
        <p14:creationId xmlns:p14="http://schemas.microsoft.com/office/powerpoint/2010/main" val="1282911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5" name="Footer Placeholder 3"/>
          <p:cNvSpPr>
            <a:spLocks noGrp="1"/>
          </p:cNvSpPr>
          <p:nvPr>
            <p:ph type="ftr" sz="quarter" idx="11"/>
          </p:nvPr>
        </p:nvSpPr>
        <p:spPr/>
        <p:txBody>
          <a:bodyPr/>
          <a:lstStyle/>
          <a:p>
            <a:r>
              <a:rPr lang="en-US" sz="1400" dirty="0"/>
              <a:t>AI-Driven Stock Market Predictor with  Sentiment Analysis </a:t>
            </a:r>
          </a:p>
        </p:txBody>
      </p:sp>
      <p:sp>
        <p:nvSpPr>
          <p:cNvPr id="1048676" name="Date Placeholder 5"/>
          <p:cNvSpPr>
            <a:spLocks noGrp="1"/>
          </p:cNvSpPr>
          <p:nvPr>
            <p:ph type="dt" sz="half" idx="10"/>
          </p:nvPr>
        </p:nvSpPr>
        <p:spPr/>
        <p:txBody>
          <a:bodyPr/>
          <a:lstStyle/>
          <a:p>
            <a:r>
              <a:rPr lang="en-US" sz="1200" dirty="0"/>
              <a:t>CS-FYP    </a:t>
            </a:r>
            <a:r>
              <a:rPr lang="en-US" sz="1200" dirty="0" err="1"/>
              <a:t>Hamdard</a:t>
            </a:r>
            <a:r>
              <a:rPr lang="en-US" sz="1200" dirty="0"/>
              <a:t> University </a:t>
            </a:r>
          </a:p>
        </p:txBody>
      </p:sp>
      <p:sp>
        <p:nvSpPr>
          <p:cNvPr id="1048677" name="Slide Number Placeholder 6"/>
          <p:cNvSpPr>
            <a:spLocks noGrp="1"/>
          </p:cNvSpPr>
          <p:nvPr>
            <p:ph type="sldNum" sz="quarter" idx="12"/>
          </p:nvPr>
        </p:nvSpPr>
        <p:spPr/>
        <p:txBody>
          <a:bodyPr/>
          <a:lstStyle/>
          <a:p>
            <a:fld id="{9EBC64C3-3FC7-4C40-910B-2643F037F02C}" type="slidenum">
              <a:rPr lang="en-US" smtClean="0"/>
              <a:t>19</a:t>
            </a:fld>
            <a:endParaRPr lang="en-US" dirty="0"/>
          </a:p>
        </p:txBody>
      </p:sp>
      <p:sp>
        <p:nvSpPr>
          <p:cNvPr id="1048678" name="Google Shape;366;p25"/>
          <p:cNvSpPr txBox="1"/>
          <p:nvPr/>
        </p:nvSpPr>
        <p:spPr>
          <a:xfrm>
            <a:off x="612648" y="1600200"/>
            <a:ext cx="8153400" cy="4495800"/>
          </a:xfrm>
          <a:prstGeom prst="rect">
            <a:avLst/>
          </a:prstGeom>
          <a:noFill/>
          <a:ln>
            <a:noFill/>
          </a:ln>
        </p:spPr>
        <p:txBody>
          <a:bodyPr spcFirstLastPara="1" vert="horz" wrap="square" lIns="91425" tIns="45700" rIns="91425" bIns="45700" anchor="t" anchorCtr="0">
            <a:normAutofit/>
          </a:bodyPr>
          <a:lstStyle>
            <a:lvl1pPr marL="320040" indent="-320040" algn="l" rtl="0" eaLnBrk="1" latinLnBrk="0" hangingPunct="1">
              <a:spcBef>
                <a:spcPts val="700"/>
              </a:spcBef>
              <a:buClr>
                <a:srgbClr val="008000"/>
              </a:buClr>
              <a:buSzPct val="60000"/>
              <a:buFont typeface="Wingdings"/>
              <a:buChar char=""/>
              <a:defRPr kumimoji="0" sz="2900" kern="1200">
                <a:solidFill>
                  <a:schemeClr val="tx1"/>
                </a:solidFill>
                <a:latin typeface="Calibri" pitchFamily="34" charset="0"/>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Calibri" pitchFamily="34" charset="0"/>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Calibri" pitchFamily="34" charset="0"/>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Calibri" pitchFamily="34" charset="0"/>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Calibri" pitchFamily="34" charset="0"/>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365760" lvl="1" indent="0">
              <a:spcBef>
                <a:spcPts val="0"/>
              </a:spcBef>
              <a:buSzPts val="6720"/>
              <a:buFont typeface="Wingdings 2"/>
              <a:buNone/>
            </a:pPr>
            <a:endParaRPr lang="en-US" sz="9600" dirty="0"/>
          </a:p>
          <a:p>
            <a:pPr marL="365760" lvl="1" indent="0" algn="ctr">
              <a:buSzPts val="6720"/>
              <a:buFont typeface="Wingdings 2"/>
              <a:buNone/>
            </a:pPr>
            <a:r>
              <a:rPr lang="en-US" sz="4800" dirty="0"/>
              <a:t>THANK YOU!</a:t>
            </a:r>
            <a:endParaRPr lang="en-US" sz="1100"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1263</TotalTime>
  <Words>1783</Words>
  <Application>Microsoft Office PowerPoint</Application>
  <PresentationFormat>On-screen Show (4:3)</PresentationFormat>
  <Paragraphs>242</Paragraphs>
  <Slides>19</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19</vt:i4>
      </vt:variant>
    </vt:vector>
  </HeadingPairs>
  <TitlesOfParts>
    <vt:vector size="29" baseType="lpstr">
      <vt:lpstr>Arial</vt:lpstr>
      <vt:lpstr>Calibri</vt:lpstr>
      <vt:lpstr>Courier New</vt:lpstr>
      <vt:lpstr>Times New Roman</vt:lpstr>
      <vt:lpstr>Tw Cen MT</vt:lpstr>
      <vt:lpstr>Twentieth Century</vt:lpstr>
      <vt:lpstr>Wingdings</vt:lpstr>
      <vt:lpstr>Wingdings 2</vt:lpstr>
      <vt:lpstr>Median</vt:lpstr>
      <vt:lpstr>Custom Design</vt:lpstr>
      <vt:lpstr>PowerPoint Presentation</vt:lpstr>
      <vt:lpstr>Outline</vt:lpstr>
      <vt:lpstr>Group Introduction </vt:lpstr>
      <vt:lpstr>Problem Statement</vt:lpstr>
      <vt:lpstr>Project Objectives</vt:lpstr>
      <vt:lpstr>Project Scope</vt:lpstr>
      <vt:lpstr>Comprehensive Literature Review</vt:lpstr>
      <vt:lpstr>Architecture Big Picture</vt:lpstr>
      <vt:lpstr>Project Methodology </vt:lpstr>
      <vt:lpstr>Project Methodology </vt:lpstr>
      <vt:lpstr>Project Role &amp; Responsibilities </vt:lpstr>
      <vt:lpstr>Project Milestones</vt:lpstr>
      <vt:lpstr>Project Milestones</vt:lpstr>
      <vt:lpstr>Project Plan</vt:lpstr>
      <vt:lpstr>Project Tools </vt:lpstr>
      <vt:lpstr>Deliverables</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Asad Ur Rehman</dc:creator>
  <cp:lastModifiedBy>Admin</cp:lastModifiedBy>
  <cp:revision>90</cp:revision>
  <dcterms:created xsi:type="dcterms:W3CDTF">2015-09-21T23:32:20Z</dcterms:created>
  <dcterms:modified xsi:type="dcterms:W3CDTF">2025-07-22T19:48:32Z</dcterms:modified>
</cp:coreProperties>
</file>